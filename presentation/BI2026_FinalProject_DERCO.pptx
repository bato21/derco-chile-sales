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Share of transactions (%)</c:v>
                </c:pt>
              </c:strCache>
            </c:strRef>
          </c:tx>
          <c:spPr>
            <a:solidFill>
              <a:srgbClr val="2A78D6"/>
            </a:solidFill>
          </c:spPr>
          <c:dPt>
            <c:idx val="0"/>
            <c:spPr>
              <a:solidFill>
                <a:srgbClr val="C00512"/>
              </a:solidFill>
            </c:spPr>
          </c:dPt>
          <c:dPt>
            <c:idx val="1"/>
            <c:spPr>
              <a:solidFill>
                <a:srgbClr val="C00512"/>
              </a:solidFill>
            </c:spPr>
          </c:dPt>
          <c:dPt>
            <c:idx val="2"/>
            <c:spPr>
              <a:solidFill>
                <a:srgbClr val="2A78D6"/>
              </a:solidFill>
            </c:spPr>
          </c:dPt>
          <c:dPt>
            <c:idx val="3"/>
            <c:spPr>
              <a:solidFill>
                <a:srgbClr val="C00512"/>
              </a:solidFill>
            </c:spPr>
          </c:dPt>
          <c:dPt>
            <c:idx val="4"/>
            <c:spPr>
              <a:solidFill>
                <a:srgbClr val="C00512"/>
              </a:solidFill>
            </c:spPr>
          </c:dPt>
          <c:dPt>
            <c:idx val="5"/>
            <c:spPr>
              <a:solidFill>
                <a:srgbClr val="C00512"/>
              </a:solidFill>
            </c:spPr>
          </c:dPt>
          <c:dPt>
            <c:idx val="6"/>
            <c:spPr>
              <a:solidFill>
                <a:srgbClr val="2A78D6"/>
              </a:solidFill>
            </c:spPr>
          </c:dPt>
          <c:dPt>
            <c:idx val="7"/>
            <c:spPr>
              <a:solidFill>
                <a:srgbClr val="2A78D6"/>
              </a:solidFill>
            </c:spPr>
          </c:dPt>
          <c:dPt>
            <c:idx val="8"/>
            <c:spPr>
              <a:solidFill>
                <a:srgbClr val="2A78D6"/>
              </a:solidFill>
            </c:spPr>
          </c:dPt>
          <c:cat>
            <c:strRef>
              <c:f>Sheet1!$A$2:$A$10</c:f>
              <c:strCache>
                <c:ptCount val="9"/>
                <c:pt idx="0">
                  <c:v>Haval</c:v>
                </c:pt>
                <c:pt idx="1">
                  <c:v>Geely</c:v>
                </c:pt>
                <c:pt idx="2">
                  <c:v>Samsung</c:v>
                </c:pt>
                <c:pt idx="3">
                  <c:v>Changan</c:v>
                </c:pt>
                <c:pt idx="4">
                  <c:v>Great Wall</c:v>
                </c:pt>
                <c:pt idx="5">
                  <c:v>JAC Cars</c:v>
                </c:pt>
                <c:pt idx="6">
                  <c:v>Renault</c:v>
                </c:pt>
                <c:pt idx="7">
                  <c:v>Mazda</c:v>
                </c:pt>
                <c:pt idx="8">
                  <c:v>Suzuki</c:v>
                </c:pt>
              </c:strCache>
            </c:strRef>
          </c:cat>
          <c:val>
            <c:numRef>
              <c:f>Sheet1!$B$2:$B$10</c:f>
              <c:numCache>
                <c:formatCode>General</c:formatCode>
                <c:ptCount val="9"/>
                <c:pt idx="0">
                  <c:v>1.6</c:v>
                </c:pt>
                <c:pt idx="1">
                  <c:v>1.7</c:v>
                </c:pt>
                <c:pt idx="2">
                  <c:v>3.5</c:v>
                </c:pt>
                <c:pt idx="3">
                  <c:v>8.2</c:v>
                </c:pt>
                <c:pt idx="4">
                  <c:v>8.5</c:v>
                </c:pt>
                <c:pt idx="5">
                  <c:v>9.1</c:v>
                </c:pt>
                <c:pt idx="6">
                  <c:v>10.9</c:v>
                </c:pt>
                <c:pt idx="7">
                  <c:v>17.8</c:v>
                </c:pt>
                <c:pt idx="8">
                  <c:v>38.8</c:v>
                </c:pt>
              </c:numCache>
            </c:numRef>
          </c:val>
        </c:ser>
        <c:dLbls>
          <c:numFmt formatCode="0.0&quot;%&quot;" sourceLinked="0"/>
          <c:txPr>
            <a:bodyPr/>
            <a:lstStyle/>
            <a:p>
              <a:pPr>
                <a:defRPr sz="1000">
                  <a:solidFill>
                    <a:srgbClr val="5A5A5A"/>
                  </a:solidFill>
                  <a:latin typeface="Segoe UI"/>
                </a:defRPr>
              </a:pPr>
            </a:p>
          </c:txPr>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E8E7E3"/>
            </a:solidFill>
          </a:ln>
        </c:spPr>
        <c:txPr>
          <a:bodyPr/>
          <a:lstStyle/>
          <a:p>
            <a:pPr>
              <a:defRPr sz="1100">
                <a:solidFill>
                  <a:srgbClr val="1A1A1A"/>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100">
          <a:solidFill>
            <a:srgbClr val="767676"/>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ndard"/>
        <c:varyColors val="0"/>
        <c:ser>
          <c:idx val="0"/>
          <c:order val="0"/>
          <c:tx>
            <c:strRef>
              <c:f>Sheet1!$B$1</c:f>
              <c:strCache>
                <c:ptCount val="1"/>
                <c:pt idx="0">
                  <c:v>Chinese-brand share of transactions (%)</c:v>
                </c:pt>
              </c:strCache>
            </c:strRef>
          </c:tx>
          <c:spPr>
            <a:solidFill>
              <a:srgbClr val="F6A09B"/>
            </a:solidFill>
            <a:ln w="28575">
              <a:solidFill>
                <a:srgbClr val="C00512"/>
              </a:solidFill>
            </a:ln>
          </c:spPr>
          <c:cat>
            <c:strRef>
              <c:f>Sheet1!$A$2:$A$15</c:f>
              <c:strCache>
                <c:ptCount val="14"/>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strCache>
            </c:strRef>
          </c:cat>
          <c:val>
            <c:numRef>
              <c:f>Sheet1!$B$2:$B$15</c:f>
              <c:numCache>
                <c:formatCode>General</c:formatCode>
                <c:ptCount val="14"/>
                <c:pt idx="0">
                  <c:v>12.2</c:v>
                </c:pt>
                <c:pt idx="1">
                  <c:v>14.5</c:v>
                </c:pt>
                <c:pt idx="2">
                  <c:v>22.0</c:v>
                </c:pt>
                <c:pt idx="3">
                  <c:v>31.1</c:v>
                </c:pt>
                <c:pt idx="4">
                  <c:v>28.5</c:v>
                </c:pt>
                <c:pt idx="5">
                  <c:v>25.3</c:v>
                </c:pt>
                <c:pt idx="6">
                  <c:v>20.1</c:v>
                </c:pt>
                <c:pt idx="7">
                  <c:v>19.5</c:v>
                </c:pt>
                <c:pt idx="8">
                  <c:v>21.1</c:v>
                </c:pt>
                <c:pt idx="9">
                  <c:v>26.0</c:v>
                </c:pt>
                <c:pt idx="10">
                  <c:v>32.6</c:v>
                </c:pt>
                <c:pt idx="11">
                  <c:v>33.6</c:v>
                </c:pt>
                <c:pt idx="12">
                  <c:v>45.6</c:v>
                </c:pt>
                <c:pt idx="13">
                  <c:v>51.8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a:solidFill>
              <a:srgbClr val="E8E7E3"/>
            </a:solidFill>
          </a:ln>
        </c:spPr>
        <c:txPr>
          <a:bodyPr/>
          <a:lstStyle/>
          <a:p>
            <a:pPr>
              <a:defRPr sz="1000">
                <a:solidFill>
                  <a:srgbClr val="767676"/>
                </a:solidFill>
              </a:defRPr>
            </a:pPr>
          </a:p>
        </c:txPr>
        <c:crossAx val="-2100718248"/>
        <c:crosses val="autoZero"/>
        <c:auto val="1"/>
        <c:lblAlgn val="ctr"/>
        <c:lblOffset val="100"/>
        <c:noMultiLvlLbl val="0"/>
      </c:catAx>
      <c:valAx>
        <c:axId val="-2100718248"/>
        <c:scaling>
          <c:orientation val="minMax"/>
          <c:max val="100.0"/>
          <c:min val="0.0"/>
        </c:scaling>
        <c:delete val="0"/>
        <c:axPos val="l"/>
        <c:majorGridlines>
          <c:spPr>
            <a:ln w="9525">
              <a:solidFill>
                <a:srgbClr val="E8E7E3"/>
              </a:solidFill>
            </a:ln>
          </c:spPr>
        </c:majorGridlines>
        <c:numFmt formatCode="0&quot;%&quot;" sourceLinked="0"/>
        <c:majorTickMark val="out"/>
        <c:minorTickMark val="none"/>
        <c:tickLblPos val="nextTo"/>
        <c:spPr>
          <a:ln>
            <a:noFill/>
          </a:ln>
        </c:spPr>
        <c:txPr>
          <a:bodyPr/>
          <a:lstStyle/>
          <a:p>
            <a:pPr>
              <a:defRPr sz="1100">
                <a:solidFill>
                  <a:srgbClr val="767676"/>
                </a:solidFill>
              </a:defRPr>
            </a:pPr>
          </a:p>
        </c:txPr>
        <c:crossAx val="-2101159928"/>
        <c:crosses val="autoZero"/>
        <c:crossBetween val="midCat"/>
        <c:majorUnit val="25.0"/>
      </c:valAx>
    </c:plotArea>
    <c:plotVisOnly val="1"/>
    <c:dispBlanksAs val="zero"/>
    <c:showDLblsOverMax val="0"/>
  </c:chart>
  <c:txPr>
    <a:bodyPr/>
    <a:lstStyle/>
    <a:p>
      <a:pPr>
        <a:defRPr sz="1100">
          <a:solidFill>
            <a:srgbClr val="767676"/>
          </a:solidFill>
          <a:latin typeface="Segoe UI"/>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customers (%)</c:v>
                </c:pt>
              </c:strCache>
            </c:strRef>
          </c:tx>
          <c:spPr>
            <a:solidFill>
              <a:srgbClr val="8C0410"/>
            </a:solidFill>
          </c:spPr>
          <c:cat>
            <c:strRef>
              <c:f>Sheet1!$A$2:$A$5</c:f>
              <c:strCache>
                <c:ptCount val="4"/>
                <c:pt idx="0">
                  <c:v>Dormant / lapsed</c:v>
                </c:pt>
                <c:pt idx="1">
                  <c:v>Mainstream one-timers</c:v>
                </c:pt>
                <c:pt idx="2">
                  <c:v>Big-ticket one-timers</c:v>
                </c:pt>
                <c:pt idx="3">
                  <c:v>Champions</c:v>
                </c:pt>
              </c:strCache>
            </c:strRef>
          </c:cat>
          <c:val>
            <c:numRef>
              <c:f>Sheet1!$B$2:$B$5</c:f>
              <c:numCache>
                <c:formatCode>General</c:formatCode>
                <c:ptCount val="4"/>
                <c:pt idx="0">
                  <c:v>30.8</c:v>
                </c:pt>
                <c:pt idx="1">
                  <c:v>32.5</c:v>
                </c:pt>
                <c:pt idx="2">
                  <c:v>22.8</c:v>
                </c:pt>
                <c:pt idx="3">
                  <c:v>14.0</c:v>
                </c:pt>
              </c:numCache>
            </c:numRef>
          </c:val>
        </c:ser>
        <c:ser>
          <c:idx val="1"/>
          <c:order val="1"/>
          <c:tx>
            <c:strRef>
              <c:f>Sheet1!$C$1</c:f>
              <c:strCache>
                <c:ptCount val="1"/>
                <c:pt idx="0">
                  <c:v>Share of total margin (%)</c:v>
                </c:pt>
              </c:strCache>
            </c:strRef>
          </c:tx>
          <c:spPr>
            <a:solidFill>
              <a:srgbClr val="E94B45"/>
            </a:solidFill>
          </c:spPr>
          <c:cat>
            <c:strRef>
              <c:f>Sheet1!$A$2:$A$5</c:f>
              <c:strCache>
                <c:ptCount val="4"/>
                <c:pt idx="0">
                  <c:v>Dormant / lapsed</c:v>
                </c:pt>
                <c:pt idx="1">
                  <c:v>Mainstream one-timers</c:v>
                </c:pt>
                <c:pt idx="2">
                  <c:v>Big-ticket one-timers</c:v>
                </c:pt>
                <c:pt idx="3">
                  <c:v>Champions</c:v>
                </c:pt>
              </c:strCache>
            </c:strRef>
          </c:cat>
          <c:val>
            <c:numRef>
              <c:f>Sheet1!$C$2:$C$5</c:f>
              <c:numCache>
                <c:formatCode>General</c:formatCode>
                <c:ptCount val="4"/>
                <c:pt idx="0">
                  <c:v>19.5</c:v>
                </c:pt>
                <c:pt idx="1">
                  <c:v>24.3</c:v>
                </c:pt>
                <c:pt idx="2">
                  <c:v>30.6</c:v>
                </c:pt>
                <c:pt idx="3">
                  <c:v>25.7</c:v>
                </c:pt>
              </c:numCache>
            </c:numRef>
          </c:val>
        </c:ser>
        <c:dLbls>
          <c:numFmt formatCode="0.0&quot;%&quot;" sourceLinked="0"/>
          <c:txPr>
            <a:bodyPr/>
            <a:lstStyle/>
            <a:p>
              <a:pPr>
                <a:defRPr sz="950">
                  <a:solidFill>
                    <a:srgbClr val="5A5A5A"/>
                  </a:solidFill>
                  <a:latin typeface="Segoe UI"/>
                </a:defRPr>
              </a:pPr>
            </a:p>
          </c:txPr>
          <c:showLegendKey val="0"/>
          <c:showVal val="1"/>
          <c:showCatName val="0"/>
          <c:showSerName val="0"/>
          <c:showPercent val="0"/>
          <c:showBubbleSize val="0"/>
          <c:showLeaderLines val="1"/>
        </c:dLbls>
        <c:gapWidth val="60"/>
        <c:overlap val="-12"/>
        <c:axId val="-2068027336"/>
        <c:axId val="-2113994440"/>
      </c:barChart>
      <c:catAx>
        <c:axId val="-2068027336"/>
        <c:scaling>
          <c:orientation val="minMax"/>
        </c:scaling>
        <c:delete val="0"/>
        <c:axPos val="l"/>
        <c:majorTickMark val="out"/>
        <c:minorTickMark val="none"/>
        <c:tickLblPos val="nextTo"/>
        <c:spPr>
          <a:ln>
            <a:solidFill>
              <a:srgbClr val="E8E7E3"/>
            </a:solidFill>
          </a:ln>
        </c:spPr>
        <c:txPr>
          <a:bodyPr/>
          <a:lstStyle/>
          <a:p>
            <a:pPr>
              <a:defRPr sz="1050">
                <a:solidFill>
                  <a:srgbClr val="1A1A1A"/>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t"/>
      <c:overlay val="0"/>
      <c:txPr>
        <a:bodyPr/>
        <a:lstStyle/>
        <a:p>
          <a:pPr>
            <a:defRPr sz="1100">
              <a:solidFill>
                <a:srgbClr val="5A5A5A"/>
              </a:solidFill>
            </a:defRPr>
          </a:pPr>
        </a:p>
      </c:txPr>
    </c:legend>
    <c:dispBlanksAs val="gap"/>
  </c:chart>
  <c:txPr>
    <a:bodyPr/>
    <a:lstStyle/>
    <a:p>
      <a:pPr>
        <a:defRPr sz="1100">
          <a:solidFill>
            <a:srgbClr val="767676"/>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1 · Title</a:t>
            </a:r>
          </a:p>
          <a:p>
            <a:r>
              <a:rPr sz="1100"/>
              <a:t>Baptiste · 15s</a:t>
            </a:r>
          </a:p>
          <a:p/>
          <a:p>
            <a:r>
              <a:rPr sz="1100"/>
              <a:t>THE POINT: Set the frame: we are a BI unit reporting to a client, not students presenting a model.</a:t>
            </a:r>
          </a:p>
          <a:p/>
          <a:p>
            <a:r>
              <a:rPr sz="1100"/>
              <a:t>SAY:</a:t>
            </a:r>
          </a:p>
          <a:p>
            <a:r>
              <a:rPr sz="1100"/>
              <a:t>  Good morning. We're the BI unit DERCO hired.</a:t>
            </a:r>
          </a:p>
          <a:p>
            <a:r>
              <a:rPr sz="1100"/>
              <a:t>  Our job: turn 14 years of car sales — 550,000 of them — into ONE decision the Commercial Director can act on.</a:t>
            </a:r>
          </a:p>
          <a:p/>
          <a:p>
            <a:r>
              <a:rPr sz="1100"/>
              <a:t>NUMBERS TO LAND: 550,033 transactions | May 2009 → March 2022</a:t>
            </a:r>
          </a:p>
          <a:p/>
          <a:p>
            <a:r>
              <a:rPr sz="1100"/>
              <a:t>WATCH OUT: Don't read the team names off the slide — they can see them. Don't apologise for anything.</a:t>
            </a:r>
          </a:p>
          <a:p/>
          <a:p>
            <a:r>
              <a:rPr sz="1100"/>
              <a:t>TRANSITION: "Let's start with what they actually asked 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2 · The client &amp; the question</a:t>
            </a:r>
          </a:p>
          <a:p>
            <a:r>
              <a:rPr sz="1100"/>
              <a:t>Baptiste · 45s</a:t>
            </a:r>
          </a:p>
          <a:p/>
          <a:p>
            <a:r>
              <a:rPr sz="1100"/>
              <a:t>THE POINT: This is a business question, not a modelling exercise. Name the decision-maker and what success means.</a:t>
            </a:r>
          </a:p>
          <a:p/>
          <a:p>
            <a:r>
              <a:rPr sz="1100"/>
              <a:t>SAY:</a:t>
            </a:r>
          </a:p>
          <a:p>
            <a:r>
              <a:rPr sz="1100"/>
              <a:t>  DERCO didn't ask for a model. They asked a business question: after 14 years, where are we leaking value, and what should change to grow margin?</a:t>
            </a:r>
          </a:p>
          <a:p>
            <a:r>
              <a:rPr sz="1100"/>
              <a:t>  Our decision-maker is the Commercial Director — they own brand mix, the dealer-versus-own-store channel, and the marketing budget.</a:t>
            </a:r>
          </a:p>
          <a:p>
            <a:r>
              <a:rPr sz="1100"/>
              <a:t>  Success for us isn't a high accuracy score. It's a ranked, peso-valued list of moves they can fund next year.</a:t>
            </a:r>
          </a:p>
          <a:p/>
          <a:p>
            <a:r>
              <a:rPr sz="1100"/>
              <a:t>NUMBERS TO LAND: 14 years of sales</a:t>
            </a:r>
          </a:p>
          <a:p/>
          <a:p>
            <a:r>
              <a:rPr sz="1100"/>
              <a:t>WATCH OUT: Say "pesos" or "CLP" — never euros or dollars. The client is Chilean.</a:t>
            </a:r>
          </a:p>
          <a:p/>
          <a:p>
            <a:r>
              <a:rPr sz="1100"/>
              <a:t>TRANSITION: "So what were we given to work with?"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3 · The dataset &amp; how we worked</a:t>
            </a:r>
          </a:p>
          <a:p>
            <a:r>
              <a:rPr sz="1100"/>
              <a:t>Baptiste → hands to Luis-Felipe · 90s</a:t>
            </a:r>
          </a:p>
          <a:p/>
          <a:p>
            <a:r>
              <a:rPr sz="1100"/>
              <a:t>THE POINT: Three jobs at once: the scale of the data, the credibility of the method, and the honesty caveat — stated up front, not buried.</a:t>
            </a:r>
          </a:p>
          <a:p/>
          <a:p>
            <a:r>
              <a:rPr sz="1100"/>
              <a:t>SAY:</a:t>
            </a:r>
          </a:p>
          <a:p>
            <a:r>
              <a:rPr sz="1100"/>
              <a:t>  The raw material: 550,000 transactions, 464,000 customers, 9 brands, over 1,500 models, 511 comunas, from 2009 to 2022. Every row is one car sale — date, an anonymised customer hash, location, brand, model, channel, list price and margin.</a:t>
            </a:r>
          </a:p>
          <a:p>
            <a:r>
              <a:rPr sz="1100"/>
              <a:t>  Two channels matter: ces, the dealer network at 65%, and propio, DERCO's own stores at 35%. Remember those two names, they come back.</a:t>
            </a:r>
          </a:p>
          <a:p>
            <a:r>
              <a:rPr sz="1100"/>
              <a:t>  This strip is how we worked: the full BI pipeline — frame, prepare, model, communicate, ethics — in one reproducible notebook with a fixed seed. Every number you'll see on a slide is exported by that notebook into a metrics file the deck reads, so nothing here is typed by hand.</a:t>
            </a:r>
          </a:p>
          <a:p>
            <a:r>
              <a:rPr sz="1100"/>
              <a:t>  One honesty note up front: the money fields are synthetic, obfuscated for the exam. So everything we say about pesos is a relative signal — trends and rankings are real, absolute amounts are not.</a:t>
            </a:r>
          </a:p>
          <a:p/>
          <a:p>
            <a:r>
              <a:rPr sz="1100"/>
              <a:t>NUMBERS TO LAND: 550,033 raw rows → 550,032 after cleaning | 464,226 customers | 9 brands · 1,543 models | 511 comunas | ces 65% / propio 35% | seed = 42</a:t>
            </a:r>
          </a:p>
          <a:p/>
          <a:p>
            <a:r>
              <a:rPr sz="1100"/>
              <a:t>WATCH OUT: Don't linger on the pipeline strip — it buys credibility, it isn't content. The synthetic-money caveat MUST be said here; if a panellist raises it first, you look like you were hiding it.</a:t>
            </a:r>
          </a:p>
          <a:p/>
          <a:p>
            <a:r>
              <a:rPr sz="1100"/>
              <a:t>TRANSITION: "Luis-Felipe will take you through what the data actually said."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4 · Prepare &amp; audit</a:t>
            </a:r>
          </a:p>
          <a:p>
            <a:r>
              <a:rPr sz="1100"/>
              <a:t>Luis-Felipe · 45s</a:t>
            </a:r>
          </a:p>
          <a:p/>
          <a:p>
            <a:r>
              <a:rPr sz="1100"/>
              <a:t>THE POINT: Earn trust with the audit, then reveal that the audit itself found the business problem.</a:t>
            </a:r>
          </a:p>
          <a:p/>
          <a:p>
            <a:r>
              <a:rPr sz="1100"/>
              <a:t>SAY:</a:t>
            </a:r>
          </a:p>
          <a:p>
            <a:r>
              <a:rPr sz="1100"/>
              <a:t>  First question for any BI team: can we trust this data? Yes.</a:t>
            </a:r>
          </a:p>
          <a:p>
            <a:r>
              <a:rPr sz="1100"/>
              <a:t>  Less than 1 percent of values are missing. There are no duplicate rows. The dates are all consistent.</a:t>
            </a:r>
          </a:p>
          <a:p>
            <a:r>
              <a:rPr sz="1100"/>
              <a:t>  When the comuna was missing, we marked it UNKNOWN. We did not delete the row. Deleting rows would reduce the revenue totals, and that would hide money.</a:t>
            </a:r>
          </a:p>
          <a:p>
            <a:r>
              <a:rPr sz="1100"/>
              <a:t>  But the audit found something real. 11,966 sales lose money. That is 2.18 percent of all deals. These cars were sold below cost.</a:t>
            </a:r>
          </a:p>
          <a:p>
            <a:r>
              <a:rPr sz="1100"/>
              <a:t>  That is about 6.8 billion pesos of lost margin. It is around 2.7 percent of all retail margin. This becomes the target of our second model.</a:t>
            </a:r>
          </a:p>
          <a:p/>
          <a:p>
            <a:r>
              <a:rPr sz="1100"/>
              <a:t>NUMBERS TO LAND: 0.72% missing comuna | 0 duplicates | 0 date mismatches | 11,966 loss-making sales = 2.18% | ≈6.8 bn CLP ≈ 2.7% of retail margin</a:t>
            </a:r>
          </a:p>
          <a:p/>
          <a:p>
            <a:r>
              <a:rPr sz="1100"/>
              <a:t>WATCH OUT: Say "sold below cost", not "sold at a loss to the customer". If they ask why we kept the negative margins: they are signal, not noise. If we delete them, we delete the finding. Keep your sentences short and pause at each full stop.</a:t>
            </a:r>
          </a:p>
          <a:p/>
          <a:p>
            <a:r>
              <a:rPr sz="1100"/>
              <a:t>TRANSITION: "Before we follow that leak, look at who sells the cars."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5 · EDA — brand mix</a:t>
            </a:r>
          </a:p>
          <a:p>
            <a:r>
              <a:rPr sz="1100"/>
              <a:t>Luis-Felipe · 35s</a:t>
            </a:r>
          </a:p>
          <a:p/>
          <a:p>
            <a:r>
              <a:rPr sz="1100"/>
              <a:t>THE POINT: Concentration risk — and plant the colour code that makes the next slide land.</a:t>
            </a:r>
          </a:p>
          <a:p/>
          <a:p>
            <a:r>
              <a:rPr sz="1100"/>
              <a:t>SAY:</a:t>
            </a:r>
          </a:p>
          <a:p>
            <a:r>
              <a:rPr sz="1100"/>
              <a:t>  Now look at who sells. Suzuki alone is 39 percent of all volume.</a:t>
            </a:r>
          </a:p>
          <a:p>
            <a:r>
              <a:rPr sz="1100"/>
              <a:t>  That is a strength today. But it is also a risk. If Suzuki has a bad year, DERCO feels it immediately.</a:t>
            </a:r>
          </a:p>
          <a:p>
            <a:r>
              <a:rPr sz="1100"/>
              <a:t>  Look at the colours. Blue is the incumbent brands. Red is the Chinese brands. The length of the bar is volume. The colour is the origin.</a:t>
            </a:r>
          </a:p>
          <a:p>
            <a:r>
              <a:rPr sz="1100"/>
              <a:t>  Remember the red. It matters on the next slide.</a:t>
            </a:r>
          </a:p>
          <a:p/>
          <a:p>
            <a:r>
              <a:rPr sz="1100"/>
              <a:t>NUMBERS TO LAND: Suzuki 38.8% | Mazda 17.8% | Renault 10.9% | JAC Cars 9.1% · Great Wall 8.5% · Changan 8.2%</a:t>
            </a:r>
          </a:p>
          <a:p/>
          <a:p>
            <a:r>
              <a:rPr sz="1100"/>
              <a:t>WATCH OUT: This is the easiest slide to shorten. If you are behind on time, say only the Suzuki line and move on. Do not read all nine brands.</a:t>
            </a:r>
          </a:p>
          <a:p/>
          <a:p>
            <a:r>
              <a:rPr sz="1100"/>
              <a:t>TRANSITION: "Now watch what the red does over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6 · The headline — China won the shelf</a:t>
            </a:r>
          </a:p>
          <a:p>
            <a:r>
              <a:rPr sz="1100"/>
              <a:t>Luis-Felipe → hands to Agustín · 55s</a:t>
            </a:r>
          </a:p>
          <a:p/>
          <a:p>
            <a:r>
              <a:rPr sz="1100"/>
              <a:t>THE POINT: The single finding that reframes the business. Slow down here.</a:t>
            </a:r>
          </a:p>
          <a:p/>
          <a:p>
            <a:r>
              <a:rPr sz="1100"/>
              <a:t>SAY:</a:t>
            </a:r>
          </a:p>
          <a:p>
            <a:r>
              <a:rPr sz="1100"/>
              <a:t>  This is the finding that changes the whole business.</a:t>
            </a:r>
          </a:p>
          <a:p>
            <a:r>
              <a:rPr sz="1100"/>
              <a:t>  In 2009, Chinese brands were 12 percent of sales. In 2022, they are 52 percent. They now sell most of DERCO's cars.</a:t>
            </a:r>
          </a:p>
          <a:p>
            <a:r>
              <a:rPr sz="1100"/>
              <a:t>  The line is not straight. The share grew to 31 percent in 2012. Then it fell back to about 20 percent in 2015 and 2016. Then it grew again from 2019.</a:t>
            </a:r>
          </a:p>
          <a:p>
            <a:r>
              <a:rPr sz="1100"/>
              <a:t>  But the direction is clear. In the last year, Chinese brands crossed the 50 percent line.</a:t>
            </a:r>
          </a:p>
          <a:p>
            <a:r>
              <a:rPr sz="1100"/>
              <a:t>  This is not a side bet any more. It is the core business. A 2026 strategy that treats it as a small bet is wrong.</a:t>
            </a:r>
          </a:p>
          <a:p/>
          <a:p>
            <a:r>
              <a:rPr sz="1100"/>
              <a:t>NUMBERS TO LAND: 12.2% in 2009 → 51.8% in 2022 | dip to 19.5% in 2016 | crossed 50% in 2022</a:t>
            </a:r>
          </a:p>
          <a:p/>
          <a:p>
            <a:r>
              <a:rPr sz="1100"/>
              <a:t>WATCH OUT: Say the partial-year point yourself, before they ask. 2009 starts in May. 2022 ends in March. So we compare shares, never totals, at the two ends. Saying it first is worth more than answering it later.</a:t>
            </a:r>
          </a:p>
          <a:p/>
          <a:p>
            <a:r>
              <a:rPr sz="1100"/>
              <a:t>TRANSITION: "Agustín now turns this description into foresight."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7 · EDA — channel, geography, rhythm</a:t>
            </a:r>
          </a:p>
          <a:p>
            <a:r>
              <a:rPr sz="1100"/>
              <a:t>Agustín · 60s</a:t>
            </a:r>
          </a:p>
          <a:p/>
          <a:p>
            <a:r>
              <a:rPr sz="1100"/>
              <a:t>THE POINT: Three operational facts, then the channel gap that tells Model B where to look.</a:t>
            </a:r>
          </a:p>
          <a:p/>
          <a:p>
            <a:r>
              <a:rPr sz="1100"/>
              <a:t>SAY:</a:t>
            </a:r>
          </a:p>
          <a:p>
            <a:r>
              <a:rPr sz="1100"/>
              <a:t>  Three operational facts. The dealer channel does 65% of volume and prices better — 6.2% margin against 5.2% at our own stores. A third of all sales sit in just ten comunas, dense but over-exposed to Santiago. And sales peak in August and bottom out in April, with December a close second peak.</a:t>
            </a:r>
          </a:p>
          <a:p>
            <a:r>
              <a:rPr sz="1100"/>
              <a:t>  Then the finding that points our second model: DERCO's own stores close 5.4% of their deals below cost, against 0.5% at dealers. An eleven-fold gap.</a:t>
            </a:r>
          </a:p>
          <a:p>
            <a:r>
              <a:rPr sz="1100"/>
              <a:t>  The leak isn't spread evenly across the business — it's concentrated exactly where DERCO controls the pricing.</a:t>
            </a:r>
          </a:p>
          <a:p/>
          <a:p>
            <a:r>
              <a:rPr sz="1100"/>
              <a:t>NUMBERS TO LAND: ces 6.24% margin vs propio 5.20% | top-10 comunas 33.4% | Aug peak, Apr trough | propio 5.38% loss rate vs ces 0.46% → ~11×</a:t>
            </a:r>
          </a:p>
          <a:p/>
          <a:p>
            <a:r>
              <a:rPr sz="1100"/>
              <a:t>WATCH OUT: This is correlation, not cause. If pushed on why, say so plainly: plausible drivers are discount authority at store level or own stores absorbing trade-ins, but we have no causal evidence — which is exactly why we recommend REVIEWING those deals, not closing the channel.</a:t>
            </a:r>
          </a:p>
          <a:p/>
          <a:p>
            <a:r>
              <a:rPr sz="1100"/>
              <a:t>TRANSITION: "Luis-Felipe now turns this description into foresight."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8 · Model A — segmentation &amp; what it means</a:t>
            </a:r>
          </a:p>
          <a:p>
            <a:r>
              <a:rPr sz="1100"/>
              <a:t>Agustín · 95s</a:t>
            </a:r>
          </a:p>
          <a:p/>
          <a:p>
            <a:r>
              <a:rPr sz="1100"/>
              <a:t>THE POINT: Two parts on one slide: how we built the segments (left), and the result that matters (right). Slow down for the right side.</a:t>
            </a:r>
          </a:p>
          <a:p/>
          <a:p>
            <a:r>
              <a:rPr sz="1100"/>
              <a:t>SAY:</a:t>
            </a:r>
          </a:p>
          <a:p>
            <a:r>
              <a:rPr sz="1100"/>
              <a:t>  Model A answers one question: who should DERCO keep?</a:t>
            </a:r>
          </a:p>
          <a:p>
            <a:r>
              <a:rPr sz="1100"/>
              <a:t>  We describe each customer with three numbers. Recency: how long since the last purchase. Frequency: how many purchases. Monetary: how much they spent in total.</a:t>
            </a:r>
          </a:p>
          <a:p>
            <a:r>
              <a:rPr sz="1100"/>
              <a:t>  Then we group similar customers together with KMeans. We did not choose the number of groups by hand. We tested k from 2 to 7. We used the elbow method and the silhouette score. We chose four groups.</a:t>
            </a:r>
          </a:p>
          <a:p>
            <a:r>
              <a:rPr sz="1100"/>
              <a:t>  Four groups is useful for marketing. The table shows each group: the share of customers, the share of margin, and the action. Retain, grow, nurture, cap spend.</a:t>
            </a:r>
          </a:p>
          <a:p>
            <a:r>
              <a:rPr sz="1100"/>
              <a:t>  Now the key result. Champions are only 14 percent of customers. But they produce 26 percent of all margin.</a:t>
            </a:r>
          </a:p>
          <a:p>
            <a:r>
              <a:rPr sz="1100"/>
              <a:t>  They are also the only group that comes back. They buy 2.3 times on average. Every other group buys one time.</a:t>
            </a:r>
          </a:p>
          <a:p>
            <a:r>
              <a:rPr sz="1100"/>
              <a:t>  And 86 percent of all customers buy only once in 14 years.</a:t>
            </a:r>
          </a:p>
          <a:p>
            <a:r>
              <a:rPr sz="1100"/>
              <a:t>  So DERCO is a transactional business, not a relationship business. The cheapest way to grow margin is to make one-time buyers come back.</a:t>
            </a:r>
          </a:p>
          <a:p/>
          <a:p>
            <a:r>
              <a:rPr sz="1100"/>
              <a:t>NUMBERS TO LAND: Champions 14.0% cust / 25.7% margin / 2.31 buys | Big-ticket 22.8% / 30.6% | Mainstream 32.5% / 24.3% | Dormant 30.8% / 19.5%, last bought ~9 yrs ago | 85.9% buy exactly once</a:t>
            </a:r>
          </a:p>
          <a:p/>
          <a:p>
            <a:r>
              <a:rPr sz="1100"/>
              <a:t>WATCH OUT: Be ready for the k question: k=2 has the highest silhouette (0.54) but only splits recent-versus-old, which isn't actionable; k=5 scores 0.400 against k=4's 0.393, a gap that is noise. We broke the tie on actionability and say so on the slide. Luis-Felipe built this model — if the question gets deep, hand it to him out loud.</a:t>
            </a:r>
          </a:p>
          <a:p/>
          <a:p>
            <a:r>
              <a:rPr sz="1100"/>
              <a:t>TRANSITION: "Model A tells us WHO. Model B tells us WHICH DEALS."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9 · Model B — the loss-deal classifier</a:t>
            </a:r>
          </a:p>
          <a:p>
            <a:r>
              <a:rPr sz="1100"/>
              <a:t>Agustín → hands to Vicente · 65s</a:t>
            </a:r>
          </a:p>
          <a:p/>
          <a:p>
            <a:r>
              <a:rPr sz="1100"/>
              <a:t>THE POINT: An operational model. Lead with the leakage decision — that is what separates a BI team from a leaderboard score.</a:t>
            </a:r>
          </a:p>
          <a:p/>
          <a:p>
            <a:r>
              <a:rPr sz="1100"/>
              <a:t>SAY:</a:t>
            </a:r>
          </a:p>
          <a:p>
            <a:r>
              <a:rPr sz="1100"/>
              <a:t>  Model B is operational. It predicts which deals will lose money, before they close.</a:t>
            </a:r>
          </a:p>
          <a:p>
            <a:r>
              <a:rPr sz="1100"/>
              <a:t>  One choice is critical. We do not give margin to the model. The target comes from margin. So using margin would be leakage — the model would simply read the answer.</a:t>
            </a:r>
          </a:p>
          <a:p>
            <a:r>
              <a:rPr sz="1100"/>
              <a:t>  We use only information known before the sale: brand, channel, comuna, list price, and date.</a:t>
            </a:r>
          </a:p>
          <a:p>
            <a:r>
              <a:rPr sz="1100"/>
              <a:t>  We compared three models. A dummy baseline. A logistic regression. And gradient boosting.</a:t>
            </a:r>
          </a:p>
          <a:p>
            <a:r>
              <a:rPr sz="1100"/>
              <a:t>  Gradient boosting is the best. ROC-AUC is 0.855 on the test set. Cross-validation gives 0.83, with a standard deviation of 0.016. So the score is stable, not lucky.</a:t>
            </a:r>
          </a:p>
          <a:p>
            <a:r>
              <a:rPr sz="1100"/>
              <a:t>  But the business result matters more. The pricing team reviews only the riskiest 10 percent of deals. With that, they find half of all the money-losing deals. This is 5.1 times better than reviewing at random.</a:t>
            </a:r>
          </a:p>
          <a:p/>
          <a:p>
            <a:r>
              <a:rPr sz="1100"/>
              <a:t>NUMBERS TO LAND: ROC-AUC 0.855 hold-out / 0.828 CV mean, std 0.016 | PR-AUC 0.142 vs 0.022 base rate | top-10% review → 50.6% of losses caught | 5.1× lift, 11.0% precision in the flagged set</a:t>
            </a:r>
          </a:p>
          <a:p/>
          <a:p>
            <a:r>
              <a:rPr sz="1100"/>
              <a:t>WATCH OUT: Say the honest note before anyone challenges it: losses are only 2.18% of deals, PR-AUC is 0.14, so this is a triage aid and not an auto-reject — a human reviews every flag. Owning the weakness is worth more than hiding it. Luis-Felipe owns the modelling detail in Q&amp;A.</a:t>
            </a:r>
          </a:p>
          <a:p/>
          <a:p>
            <a:r>
              <a:rPr sz="1100"/>
              <a:t>TRANSITION: "Vicente will bring all the results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10 · The dashboard</a:t>
            </a:r>
          </a:p>
          <a:p>
            <a:r>
              <a:rPr sz="1100"/>
              <a:t>Vicente · 40s</a:t>
            </a:r>
          </a:p>
          <a:p/>
          <a:p>
            <a:r>
              <a:rPr sz="1100"/>
              <a:t>THE POINT: The results block closes here. Show that the analysis produced a working artifact, not only slides.</a:t>
            </a:r>
          </a:p>
          <a:p/>
          <a:p>
            <a:r>
              <a:rPr sz="1100"/>
              <a:t>SAY:</a:t>
            </a:r>
          </a:p>
          <a:p>
            <a:r>
              <a:rPr sz="1100"/>
              <a:t>  All our results come together here. Six numbers, one screen. This is what the Commercial Director sees.</a:t>
            </a:r>
          </a:p>
          <a:p>
            <a:r>
              <a:rPr sz="1100"/>
              <a:t>  Chinese brands are 52 percent of 2022 sales. 86 percent of customers buy only once. Champions make 26 percent of the margin. 2.18 percent of deals lose money. Suzuki is 39 percent of volume. And we recover half of the leak.</a:t>
            </a:r>
          </a:p>
          <a:p>
            <a:r>
              <a:rPr sz="1100"/>
              <a:t>  The dashboard is a self-contained HTML file. The notebook also saves a static image of it. Both read the same metrics file. So the dashboard always matches the analysis. No number is typed by hand.</a:t>
            </a:r>
          </a:p>
          <a:p/>
          <a:p>
            <a:r>
              <a:rPr sz="1100"/>
              <a:t>NUMBERS TO LAND: 51.8% · 85.9% · 25.7% · 2.18% · 38.8% · 50.6%</a:t>
            </a:r>
          </a:p>
          <a:p/>
          <a:p>
            <a:r>
              <a:rPr sz="1100"/>
              <a:t>WATCH OUT: Do not explain the six numbers again — the panel has heard all of them. This slide is about traceability. Point at the screen, name the number, move on.</a:t>
            </a:r>
          </a:p>
          <a:p/>
          <a:p>
            <a:r>
              <a:rPr sz="1100"/>
              <a:t>TRANSITION: "Those six numbers collapse into five findings, and the five into one decision."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11 · Five findings → one decision</a:t>
            </a:r>
          </a:p>
          <a:p>
            <a:r>
              <a:rPr sz="1100"/>
              <a:t>Vicente · 85s</a:t>
            </a:r>
          </a:p>
          <a:p/>
          <a:p>
            <a:r>
              <a:rPr sz="1100"/>
              <a:t>THE POINT: The answer to the brief. This is the slide the grade hangs on — never cut it, never rush it.</a:t>
            </a:r>
          </a:p>
          <a:p/>
          <a:p>
            <a:r>
              <a:rPr sz="1100"/>
              <a:t>SAY:</a:t>
            </a:r>
          </a:p>
          <a:p>
            <a:r>
              <a:rPr sz="1100"/>
              <a:t>  Five findings, ranked by impact. One: China won the shelf — 12 to 52%. Two: DERCO is transactional, not relational — 14% of customers make 26% of margin. Three: 6.8 billion pesos leak through loss-making deals, concentrated in our own stores. Four: single-brand dependence on Suzuki. Five: geographic over-exposure to ten comunas.</a:t>
            </a:r>
          </a:p>
          <a:p>
            <a:r>
              <a:rPr sz="1100"/>
              <a:t>  That collapses into one decision with three funded moves for FY2026.</a:t>
            </a:r>
          </a:p>
          <a:p>
            <a:r>
              <a:rPr sz="1100"/>
              <a:t>  Retain: fund a loyalty program aimed at Champions and at converting one-timers — the highest-return margin in the business, because those customers already come back.</a:t>
            </a:r>
          </a:p>
          <a:p>
            <a:r>
              <a:rPr sz="1100"/>
              <a:t>  Formalise China: treat Chinese brands as a first-class portfolio in pricing, stock and marketing. They're already the majority; the org chart just hasn't caught up.</a:t>
            </a:r>
          </a:p>
          <a:p>
            <a:r>
              <a:rPr sz="1100"/>
              <a:t>  Plug the leak: deploy our classifier as a pre-approval check on the riskiest 10% of deals, starting with the own-store channel, because that's where the leak lives.</a:t>
            </a:r>
          </a:p>
          <a:p/>
          <a:p>
            <a:r>
              <a:rPr sz="1100"/>
              <a:t>NUMBERS TO LAND: 12% → 52% | 86% buy once / 14% drive 26% | ~6.8 bn CLP at 2.18% | Suzuki ≈ 39% | top-10 comunas ≈ 33%</a:t>
            </a:r>
          </a:p>
          <a:p/>
          <a:p>
            <a:r>
              <a:rPr sz="1100"/>
              <a:t>WATCH OUT: Go fast on the five findings — the panel has already seen every one of them — and slow on the three moves. Time spent here beats time spent anywhere else in the deck.</a:t>
            </a:r>
          </a:p>
          <a:p/>
          <a:p>
            <a:r>
              <a:rPr sz="1100"/>
              <a:t>TRANSITION: "And we're equally clear about what this can't say."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12 · Ethics, bias &amp; limits</a:t>
            </a:r>
          </a:p>
          <a:p>
            <a:r>
              <a:rPr sz="1100"/>
              <a:t>Vicente · 45s</a:t>
            </a:r>
          </a:p>
          <a:p/>
          <a:p>
            <a:r>
              <a:rPr sz="1100"/>
              <a:t>THE POINT: Credibility comes from naming real limits, not token ones. Each item is specific to THIS analysis.</a:t>
            </a:r>
          </a:p>
          <a:p/>
          <a:p>
            <a:r>
              <a:rPr sz="1100"/>
              <a:t>SAY:</a:t>
            </a:r>
          </a:p>
          <a:p>
            <a:r>
              <a:rPr sz="1100"/>
              <a:t>  We're deliberate about what this can't say. The money is synthetic — direction trustworthy, absolute level not.</a:t>
            </a:r>
          </a:p>
          <a:p>
            <a:r>
              <a:rPr sz="1100"/>
              <a:t>  The customer hash is re-identifiable by anyone who can hash a candidate RUT, so we treat it as personal data and we dropped street addresses from every model.</a:t>
            </a:r>
          </a:p>
          <a:p>
            <a:r>
              <a:rPr sz="1100"/>
              <a:t>  Our data over-represents Santiago, so 'valuable customer' really means 'urban customer' — a retention program mustn't quietly redline rural comunas.</a:t>
            </a:r>
          </a:p>
          <a:p>
            <a:r>
              <a:rPr sz="1100"/>
              <a:t>  Our silhouette is 0.39, so the segments are a useful marketing convenience, not a natural law.</a:t>
            </a:r>
          </a:p>
          <a:p>
            <a:r>
              <a:rPr sz="1100"/>
              <a:t>  And with an imbalanced target and no causal claims, the models advise; people decide. We'd re-check all of it yearly.</a:t>
            </a:r>
          </a:p>
          <a:p/>
          <a:p>
            <a:r>
              <a:rPr sz="1100"/>
              <a:t>NUMBERS TO LAND: silhouette 0.39 | 2.18% class imbalance | top-10 comunas 33.4% of data</a:t>
            </a:r>
          </a:p>
          <a:p/>
          <a:p>
            <a:r>
              <a:rPr sz="1100"/>
              <a:t>WATCH OUT: Say these as decisions the team made, not as apologies. If you have a spare 10 seconds, add the survivorship point: we only see closed DERCO sales, never the customers who walked away or bought a competitor.</a:t>
            </a:r>
          </a:p>
          <a:p/>
          <a:p>
            <a:r>
              <a:rPr sz="1100"/>
              <a:t>TRANSITION: "To close."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13 · Close</a:t>
            </a:r>
          </a:p>
          <a:p>
            <a:r>
              <a:rPr sz="1100"/>
              <a:t>Vicente · 20s</a:t>
            </a:r>
          </a:p>
          <a:p/>
          <a:p>
            <a:r>
              <a:rPr sz="1100"/>
              <a:t>THE POINT: Land the decision one last time, then stop talking.</a:t>
            </a:r>
          </a:p>
          <a:p/>
          <a:p>
            <a:r>
              <a:rPr sz="1100"/>
              <a:t>SAY:</a:t>
            </a:r>
          </a:p>
          <a:p>
            <a:r>
              <a:rPr sz="1100"/>
              <a:t>  So: one dataset, one decision — retain Champions, formalise China, plug the margin leak.</a:t>
            </a:r>
          </a:p>
          <a:p>
            <a:r>
              <a:rPr sz="1100"/>
              <a:t>  Thank you. We're happy to take your questions.</a:t>
            </a:r>
          </a:p>
          <a:p/>
          <a:p>
            <a:r>
              <a:rPr sz="1100"/>
              <a:t>WATCH OUT: Stop. Don't add a summary of the summary. All four of you stay standing and facing the panel for Q&amp;A.</a:t>
            </a:r>
          </a:p>
          <a:p/>
          <a:p>
            <a:r>
              <a:rPr sz="1100"/>
              <a:t>TRANSITION: Q&amp;A — route by owner (see the Q&amp;A map in SCRIPT.md).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005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566928"/>
            <a:ext cx="274320" cy="100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52728" y="457200"/>
            <a:ext cx="3657600" cy="320040"/>
          </a:xfrm>
          <a:prstGeom prst="rect">
            <a:avLst/>
          </a:prstGeom>
          <a:noFill/>
        </p:spPr>
        <p:txBody>
          <a:bodyPr wrap="square" anchor="t" lIns="0" rIns="0" tIns="0" bIns="0">
            <a:spAutoFit/>
          </a:bodyPr>
          <a:lstStyle/>
          <a:p>
            <a:pPr algn="l">
              <a:spcAft>
                <a:spcPts val="0"/>
              </a:spcAft>
            </a:pPr>
            <a:r>
              <a:rPr sz="1500" b="1" i="0">
                <a:solidFill>
                  <a:srgbClr val="FFFFFF"/>
                </a:solidFill>
                <a:latin typeface="Segoe UI"/>
              </a:rPr>
              <a:t>DERCO CHILE</a:t>
            </a:r>
          </a:p>
        </p:txBody>
      </p:sp>
      <p:sp>
        <p:nvSpPr>
          <p:cNvPr id="5" name="TextBox 4"/>
          <p:cNvSpPr txBox="1"/>
          <p:nvPr/>
        </p:nvSpPr>
        <p:spPr>
          <a:xfrm>
            <a:off x="868680" y="1078992"/>
            <a:ext cx="10454335" cy="274320"/>
          </a:xfrm>
          <a:prstGeom prst="rect">
            <a:avLst/>
          </a:prstGeom>
          <a:noFill/>
        </p:spPr>
        <p:txBody>
          <a:bodyPr wrap="square" anchor="t" lIns="0" rIns="0" tIns="0" bIns="0">
            <a:spAutoFit/>
          </a:bodyPr>
          <a:lstStyle/>
          <a:p>
            <a:pPr algn="l">
              <a:spcAft>
                <a:spcPts val="0"/>
              </a:spcAft>
            </a:pPr>
            <a:r>
              <a:rPr sz="1100" b="1" i="0">
                <a:solidFill>
                  <a:srgbClr val="FFFFFF"/>
                </a:solidFill>
                <a:latin typeface="Segoe UI"/>
              </a:rPr>
              <a:t>BUSINESS INTELLIGENCE · FINAL INTEGRATIVE PROJECT · UDD 2026</a:t>
            </a:r>
          </a:p>
        </p:txBody>
      </p:sp>
      <p:sp>
        <p:nvSpPr>
          <p:cNvPr id="6" name="TextBox 5"/>
          <p:cNvSpPr txBox="1"/>
          <p:nvPr/>
        </p:nvSpPr>
        <p:spPr>
          <a:xfrm>
            <a:off x="868680" y="2103120"/>
            <a:ext cx="10454335" cy="2011680"/>
          </a:xfrm>
          <a:prstGeom prst="rect">
            <a:avLst/>
          </a:prstGeom>
          <a:noFill/>
        </p:spPr>
        <p:txBody>
          <a:bodyPr wrap="square" anchor="t" lIns="0" rIns="0" tIns="0" bIns="0">
            <a:spAutoFit/>
          </a:bodyPr>
          <a:lstStyle/>
          <a:p>
            <a:pPr algn="l">
              <a:lnSpc>
                <a:spcPct val="105000"/>
              </a:lnSpc>
              <a:spcAft>
                <a:spcPts val="0"/>
              </a:spcAft>
            </a:pPr>
            <a:r>
              <a:rPr sz="4400" b="1" i="0">
                <a:solidFill>
                  <a:srgbClr val="FFFFFF"/>
                </a:solidFill>
                <a:latin typeface="Segoe UI"/>
              </a:rPr>
              <a:t>From 550,033 car sales</a:t>
            </a:r>
          </a:p>
          <a:p>
            <a:pPr>
              <a:lnSpc>
                <a:spcPct val="105000"/>
              </a:lnSpc>
              <a:spcAft>
                <a:spcPts val="0"/>
              </a:spcAft>
            </a:pPr>
            <a:r>
              <a:rPr sz="4400" b="1" i="0">
                <a:solidFill>
                  <a:srgbClr val="FFFFFF"/>
                </a:solidFill>
                <a:latin typeface="Segoe UI"/>
              </a:rPr>
              <a:t>to one business decision.</a:t>
            </a:r>
          </a:p>
        </p:txBody>
      </p:sp>
      <p:sp>
        <p:nvSpPr>
          <p:cNvPr id="7" name="TextBox 6"/>
          <p:cNvSpPr txBox="1"/>
          <p:nvPr/>
        </p:nvSpPr>
        <p:spPr>
          <a:xfrm>
            <a:off x="868680" y="4160520"/>
            <a:ext cx="10454335" cy="1005840"/>
          </a:xfrm>
          <a:prstGeom prst="rect">
            <a:avLst/>
          </a:prstGeom>
          <a:noFill/>
        </p:spPr>
        <p:txBody>
          <a:bodyPr wrap="square" anchor="t" lIns="0" rIns="0" tIns="0" bIns="0">
            <a:spAutoFit/>
          </a:bodyPr>
          <a:lstStyle/>
          <a:p>
            <a:pPr algn="l">
              <a:spcAft>
                <a:spcPts val="900"/>
              </a:spcAft>
            </a:pPr>
            <a:r>
              <a:rPr sz="1500" b="0" i="0">
                <a:solidFill>
                  <a:srgbClr val="FFD9D9"/>
                </a:solidFill>
                <a:latin typeface="Segoe UI"/>
              </a:rPr>
              <a:t>Retail vehicle sales · May 2009 → March 2022</a:t>
            </a:r>
          </a:p>
          <a:p>
            <a:pPr>
              <a:spcAft>
                <a:spcPts val="0"/>
              </a:spcAft>
            </a:pPr>
            <a:r>
              <a:rPr sz="1400" b="0" i="0">
                <a:solidFill>
                  <a:srgbClr val="FFFFFF"/>
                </a:solidFill>
                <a:latin typeface="Segoe UI"/>
              </a:rPr>
              <a:t>Vicente Rodríguez · Agustín Reyes · Luis-Felipe Cáceres · Baptiste Vial</a:t>
            </a:r>
          </a:p>
        </p:txBody>
      </p:sp>
      <p:sp>
        <p:nvSpPr>
          <p:cNvPr id="8" name="Rectangle 7"/>
          <p:cNvSpPr/>
          <p:nvPr/>
        </p:nvSpPr>
        <p:spPr>
          <a:xfrm>
            <a:off x="868680" y="6071616"/>
            <a:ext cx="10454335" cy="9525"/>
          </a:xfrm>
          <a:prstGeom prst="rect">
            <a:avLst/>
          </a:prstGeom>
          <a:solidFill>
            <a:srgbClr val="F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FFFFFF"/>
                </a:solidFill>
                <a:latin typeface="Segoe UI"/>
              </a:rPr>
              <a:t>▶ Baptiste</a:t>
            </a:r>
          </a:p>
        </p:txBody>
      </p:sp>
      <p:sp>
        <p:nvSpPr>
          <p:cNvPr id="10" name="TextBox 9"/>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FFFFFF"/>
                </a:solidFill>
                <a:latin typeface="Segoe UI"/>
              </a:rPr>
              <a:t>Acting as DERCO's BI unit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01 · THE CLIENT &amp; THE QUESTION</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DERCO hired us to find where
the retail model leaks value.</a:t>
            </a:r>
          </a:p>
        </p:txBody>
      </p:sp>
      <p:sp>
        <p:nvSpPr>
          <p:cNvPr id="5" name="Rectangle 4"/>
          <p:cNvSpPr/>
          <p:nvPr/>
        </p:nvSpPr>
        <p:spPr>
          <a:xfrm>
            <a:off x="868680" y="2331720"/>
            <a:ext cx="38100" cy="713232"/>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377440"/>
            <a:ext cx="8412480" cy="731520"/>
          </a:xfrm>
          <a:prstGeom prst="rect">
            <a:avLst/>
          </a:prstGeom>
          <a:noFill/>
        </p:spPr>
        <p:txBody>
          <a:bodyPr wrap="square" anchor="t" lIns="0" rIns="0" tIns="0" bIns="0">
            <a:spAutoFit/>
          </a:bodyPr>
          <a:lstStyle/>
          <a:p>
            <a:pPr algn="l">
              <a:lnSpc>
                <a:spcPct val="125000"/>
              </a:lnSpc>
              <a:spcAft>
                <a:spcPts val="0"/>
              </a:spcAft>
            </a:pPr>
            <a:r>
              <a:rPr sz="1700" b="1" i="0">
                <a:solidFill>
                  <a:srgbClr val="1A1A1A"/>
                </a:solidFill>
                <a:latin typeface="Segoe UI"/>
              </a:rPr>
              <a:t>“After 14 years of sales, where is DERCO leaking value — and what should change to grow margin?”</a:t>
            </a:r>
          </a:p>
        </p:txBody>
      </p:sp>
      <p:sp>
        <p:nvSpPr>
          <p:cNvPr id="7" name="Rounded Rectangle 6"/>
          <p:cNvSpPr/>
          <p:nvPr/>
        </p:nvSpPr>
        <p:spPr>
          <a:xfrm>
            <a:off x="868680" y="3429000"/>
            <a:ext cx="3332378" cy="16916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8651" y="3429000"/>
            <a:ext cx="3132436"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3703320"/>
            <a:ext cx="2856890" cy="1307592"/>
          </a:xfrm>
          <a:prstGeom prst="rect">
            <a:avLst/>
          </a:prstGeom>
          <a:noFill/>
        </p:spPr>
        <p:txBody>
          <a:bodyPr wrap="square" anchor="t" lIns="0" rIns="0" tIns="0" bIns="0">
            <a:spAutoFit/>
          </a:bodyPr>
          <a:lstStyle/>
          <a:p>
            <a:pPr algn="l">
              <a:spcAft>
                <a:spcPts val="500"/>
              </a:spcAft>
            </a:pPr>
            <a:r>
              <a:rPr sz="1200" b="1" i="0">
                <a:solidFill>
                  <a:srgbClr val="C00512"/>
                </a:solidFill>
                <a:latin typeface="Segoe UI"/>
              </a:rPr>
              <a:t>Decision-maker</a:t>
            </a:r>
          </a:p>
          <a:p>
            <a:pPr>
              <a:lnSpc>
                <a:spcPct val="130000"/>
              </a:lnSpc>
              <a:spcAft>
                <a:spcPts val="0"/>
              </a:spcAft>
            </a:pPr>
            <a:r>
              <a:rPr sz="1150" b="0" i="0">
                <a:solidFill>
                  <a:srgbClr val="5A5A5A"/>
                </a:solidFill>
                <a:latin typeface="Segoe UI"/>
              </a:rPr>
              <a:t>DERCO's </a:t>
            </a:r>
            <a:r>
              <a:rPr sz="1150" b="1" i="0">
                <a:solidFill>
                  <a:srgbClr val="5A5A5A"/>
                </a:solidFill>
                <a:latin typeface="Segoe UI"/>
              </a:rPr>
              <a:t>Commercial Director</a:t>
            </a:r>
            <a:r>
              <a:rPr sz="1150" b="0" i="0">
                <a:solidFill>
                  <a:srgbClr val="5A5A5A"/>
                </a:solidFill>
                <a:latin typeface="Segoe UI"/>
              </a:rPr>
              <a:t> — owns brand mix, channel strategy and the marketing budget.</a:t>
            </a:r>
          </a:p>
        </p:txBody>
      </p:sp>
      <p:sp>
        <p:nvSpPr>
          <p:cNvPr id="10" name="Rounded Rectangle 9"/>
          <p:cNvSpPr/>
          <p:nvPr/>
        </p:nvSpPr>
        <p:spPr>
          <a:xfrm>
            <a:off x="4429658" y="3429000"/>
            <a:ext cx="3332378" cy="16916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9629" y="3429000"/>
            <a:ext cx="3132436"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7402" y="3703320"/>
            <a:ext cx="2856890" cy="1307592"/>
          </a:xfrm>
          <a:prstGeom prst="rect">
            <a:avLst/>
          </a:prstGeom>
          <a:noFill/>
        </p:spPr>
        <p:txBody>
          <a:bodyPr wrap="square" anchor="t" lIns="0" rIns="0" tIns="0" bIns="0">
            <a:spAutoFit/>
          </a:bodyPr>
          <a:lstStyle/>
          <a:p>
            <a:pPr algn="l">
              <a:spcAft>
                <a:spcPts val="500"/>
              </a:spcAft>
            </a:pPr>
            <a:r>
              <a:rPr sz="1200" b="1" i="0">
                <a:solidFill>
                  <a:srgbClr val="C00512"/>
                </a:solidFill>
                <a:latin typeface="Segoe UI"/>
              </a:rPr>
              <a:t>The decision</a:t>
            </a:r>
          </a:p>
          <a:p>
            <a:pPr>
              <a:lnSpc>
                <a:spcPct val="130000"/>
              </a:lnSpc>
              <a:spcAft>
                <a:spcPts val="0"/>
              </a:spcAft>
            </a:pPr>
            <a:r>
              <a:rPr sz="1150" b="0" i="0">
                <a:solidFill>
                  <a:srgbClr val="5A5A5A"/>
                </a:solidFill>
                <a:latin typeface="Segoe UI"/>
              </a:rPr>
              <a:t>Where to move </a:t>
            </a:r>
            <a:r>
              <a:rPr sz="1150" b="1" i="0">
                <a:solidFill>
                  <a:srgbClr val="5A5A5A"/>
                </a:solidFill>
                <a:latin typeface="Segoe UI"/>
              </a:rPr>
              <a:t>commercial effort and budget</a:t>
            </a:r>
            <a:r>
              <a:rPr sz="1150" b="0" i="0">
                <a:solidFill>
                  <a:srgbClr val="5A5A5A"/>
                </a:solidFill>
                <a:latin typeface="Segoe UI"/>
              </a:rPr>
              <a:t> for FY2026.</a:t>
            </a:r>
          </a:p>
        </p:txBody>
      </p:sp>
      <p:sp>
        <p:nvSpPr>
          <p:cNvPr id="13" name="Rounded Rectangle 12"/>
          <p:cNvSpPr/>
          <p:nvPr/>
        </p:nvSpPr>
        <p:spPr>
          <a:xfrm>
            <a:off x="7990636" y="3429000"/>
            <a:ext cx="3332378" cy="16916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0607" y="3429000"/>
            <a:ext cx="3132436"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8380" y="3703320"/>
            <a:ext cx="2856890" cy="1307592"/>
          </a:xfrm>
          <a:prstGeom prst="rect">
            <a:avLst/>
          </a:prstGeom>
          <a:noFill/>
        </p:spPr>
        <p:txBody>
          <a:bodyPr wrap="square" anchor="t" lIns="0" rIns="0" tIns="0" bIns="0">
            <a:spAutoFit/>
          </a:bodyPr>
          <a:lstStyle/>
          <a:p>
            <a:pPr algn="l">
              <a:spcAft>
                <a:spcPts val="500"/>
              </a:spcAft>
            </a:pPr>
            <a:r>
              <a:rPr sz="1200" b="1" i="0">
                <a:solidFill>
                  <a:srgbClr val="C00512"/>
                </a:solidFill>
                <a:latin typeface="Segoe UI"/>
              </a:rPr>
              <a:t>Success</a:t>
            </a:r>
          </a:p>
          <a:p>
            <a:pPr>
              <a:lnSpc>
                <a:spcPct val="130000"/>
              </a:lnSpc>
              <a:spcAft>
                <a:spcPts val="0"/>
              </a:spcAft>
            </a:pPr>
            <a:r>
              <a:rPr sz="1150" b="0" i="0">
                <a:solidFill>
                  <a:srgbClr val="5A5A5A"/>
                </a:solidFill>
                <a:latin typeface="Segoe UI"/>
              </a:rPr>
              <a:t>A ranked, </a:t>
            </a:r>
            <a:r>
              <a:rPr sz="1150" b="1" i="0">
                <a:solidFill>
                  <a:srgbClr val="5A5A5A"/>
                </a:solidFill>
                <a:latin typeface="Segoe UI"/>
              </a:rPr>
              <a:t>CLP-valued</a:t>
            </a:r>
            <a:r>
              <a:rPr sz="1150" b="0" i="0">
                <a:solidFill>
                  <a:srgbClr val="5A5A5A"/>
                </a:solidFill>
                <a:latin typeface="Segoe UI"/>
              </a:rPr>
              <a:t> list of moves the client can fund — not an accuracy score.</a:t>
            </a:r>
          </a:p>
        </p:txBody>
      </p:sp>
      <p:sp>
        <p:nvSpPr>
          <p:cNvPr id="16" name="Rectangle 15"/>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Baptiste</a:t>
            </a:r>
          </a:p>
        </p:txBody>
      </p:sp>
      <p:sp>
        <p:nvSpPr>
          <p:cNvPr id="18" name="TextBox 17"/>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Frame &amp; KPIs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02 · THE DATASET &amp; HOW WE WORKED</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100" b="1" i="0">
                <a:solidFill>
                  <a:srgbClr val="1A1A1A"/>
                </a:solidFill>
                <a:latin typeface="Segoe UI"/>
              </a:rPr>
              <a:t>14 years of real transactions,
through the full BI pipeline.</a:t>
            </a:r>
          </a:p>
        </p:txBody>
      </p:sp>
      <p:sp>
        <p:nvSpPr>
          <p:cNvPr id="5" name="Rounded Rectangle 4"/>
          <p:cNvSpPr/>
          <p:nvPr/>
        </p:nvSpPr>
        <p:spPr>
          <a:xfrm>
            <a:off x="868680" y="2103120"/>
            <a:ext cx="2442133" cy="109728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6424" y="2377440"/>
            <a:ext cx="1966645" cy="71323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550K</a:t>
            </a:r>
          </a:p>
          <a:p>
            <a:pPr>
              <a:lnSpc>
                <a:spcPct val="125000"/>
              </a:lnSpc>
              <a:spcAft>
                <a:spcPts val="0"/>
              </a:spcAft>
            </a:pPr>
            <a:r>
              <a:rPr sz="1050" b="0" i="0">
                <a:solidFill>
                  <a:srgbClr val="767676"/>
                </a:solidFill>
                <a:latin typeface="Segoe UI"/>
              </a:rPr>
              <a:t>transactions</a:t>
            </a:r>
          </a:p>
        </p:txBody>
      </p:sp>
      <p:sp>
        <p:nvSpPr>
          <p:cNvPr id="7" name="Rounded Rectangle 6"/>
          <p:cNvSpPr/>
          <p:nvPr/>
        </p:nvSpPr>
        <p:spPr>
          <a:xfrm>
            <a:off x="3539413" y="2103120"/>
            <a:ext cx="2442133" cy="109728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7157" y="2377440"/>
            <a:ext cx="1966645" cy="71323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464K</a:t>
            </a:r>
          </a:p>
          <a:p>
            <a:pPr>
              <a:lnSpc>
                <a:spcPct val="125000"/>
              </a:lnSpc>
              <a:spcAft>
                <a:spcPts val="0"/>
              </a:spcAft>
            </a:pPr>
            <a:r>
              <a:rPr sz="1050" b="0" i="0">
                <a:solidFill>
                  <a:srgbClr val="767676"/>
                </a:solidFill>
                <a:latin typeface="Segoe UI"/>
              </a:rPr>
              <a:t>unique customers</a:t>
            </a:r>
          </a:p>
        </p:txBody>
      </p:sp>
      <p:sp>
        <p:nvSpPr>
          <p:cNvPr id="9" name="Rounded Rectangle 8"/>
          <p:cNvSpPr/>
          <p:nvPr/>
        </p:nvSpPr>
        <p:spPr>
          <a:xfrm>
            <a:off x="6210147" y="2103120"/>
            <a:ext cx="2442133" cy="109728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7891" y="2377440"/>
            <a:ext cx="1966645" cy="71323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9</a:t>
            </a:r>
          </a:p>
          <a:p>
            <a:pPr>
              <a:lnSpc>
                <a:spcPct val="125000"/>
              </a:lnSpc>
              <a:spcAft>
                <a:spcPts val="0"/>
              </a:spcAft>
            </a:pPr>
            <a:r>
              <a:rPr sz="1050" b="0" i="0">
                <a:solidFill>
                  <a:srgbClr val="767676"/>
                </a:solidFill>
                <a:latin typeface="Segoe UI"/>
              </a:rPr>
              <a:t>brands · 1,543 models</a:t>
            </a:r>
          </a:p>
        </p:txBody>
      </p:sp>
      <p:sp>
        <p:nvSpPr>
          <p:cNvPr id="11" name="Rounded Rectangle 10"/>
          <p:cNvSpPr/>
          <p:nvPr/>
        </p:nvSpPr>
        <p:spPr>
          <a:xfrm>
            <a:off x="8880881" y="2103120"/>
            <a:ext cx="2442133" cy="109728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18625" y="2377440"/>
            <a:ext cx="1966645" cy="71323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511</a:t>
            </a:r>
          </a:p>
          <a:p>
            <a:pPr>
              <a:lnSpc>
                <a:spcPct val="125000"/>
              </a:lnSpc>
              <a:spcAft>
                <a:spcPts val="0"/>
              </a:spcAft>
            </a:pPr>
            <a:r>
              <a:rPr sz="1050" b="0" i="0">
                <a:solidFill>
                  <a:srgbClr val="767676"/>
                </a:solidFill>
                <a:latin typeface="Segoe UI"/>
              </a:rPr>
              <a:t>comunas of Chile</a:t>
            </a:r>
          </a:p>
        </p:txBody>
      </p:sp>
      <p:sp>
        <p:nvSpPr>
          <p:cNvPr id="13" name="Rounded Rectangle 12"/>
          <p:cNvSpPr/>
          <p:nvPr/>
        </p:nvSpPr>
        <p:spPr>
          <a:xfrm>
            <a:off x="868680" y="3383280"/>
            <a:ext cx="1981139" cy="96012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8114" y="3383280"/>
            <a:ext cx="1862271"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566160"/>
            <a:ext cx="1651955" cy="731520"/>
          </a:xfrm>
          <a:prstGeom prst="rect">
            <a:avLst/>
          </a:prstGeom>
          <a:noFill/>
        </p:spPr>
        <p:txBody>
          <a:bodyPr wrap="square" anchor="t" lIns="0" rIns="0" tIns="0" bIns="0">
            <a:spAutoFit/>
          </a:bodyPr>
          <a:lstStyle/>
          <a:p>
            <a:pPr algn="l">
              <a:spcAft>
                <a:spcPts val="300"/>
              </a:spcAft>
            </a:pPr>
            <a:r>
              <a:rPr sz="1050" b="1" i="0">
                <a:solidFill>
                  <a:srgbClr val="1A1A1A"/>
                </a:solidFill>
                <a:latin typeface="Segoe UI"/>
              </a:rPr>
              <a:t>1 · Frame</a:t>
            </a:r>
          </a:p>
          <a:p>
            <a:pPr>
              <a:lnSpc>
                <a:spcPct val="120000"/>
              </a:lnSpc>
              <a:spcAft>
                <a:spcPts val="0"/>
              </a:spcAft>
            </a:pPr>
            <a:r>
              <a:rPr sz="850" b="0" i="0">
                <a:solidFill>
                  <a:srgbClr val="767676"/>
                </a:solidFill>
                <a:latin typeface="Segoe UI"/>
              </a:rPr>
              <a:t>Question, decision-maker, 6 KPIs</a:t>
            </a:r>
          </a:p>
        </p:txBody>
      </p:sp>
      <p:sp>
        <p:nvSpPr>
          <p:cNvPr id="16" name="Rounded Rectangle 15"/>
          <p:cNvSpPr/>
          <p:nvPr/>
        </p:nvSpPr>
        <p:spPr>
          <a:xfrm>
            <a:off x="2986979" y="3383280"/>
            <a:ext cx="1981139" cy="96012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6413" y="3383280"/>
            <a:ext cx="1862271"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51571" y="3566160"/>
            <a:ext cx="1651955" cy="731520"/>
          </a:xfrm>
          <a:prstGeom prst="rect">
            <a:avLst/>
          </a:prstGeom>
          <a:noFill/>
        </p:spPr>
        <p:txBody>
          <a:bodyPr wrap="square" anchor="t" lIns="0" rIns="0" tIns="0" bIns="0">
            <a:spAutoFit/>
          </a:bodyPr>
          <a:lstStyle/>
          <a:p>
            <a:pPr algn="l">
              <a:spcAft>
                <a:spcPts val="300"/>
              </a:spcAft>
            </a:pPr>
            <a:r>
              <a:rPr sz="1050" b="1" i="0">
                <a:solidFill>
                  <a:srgbClr val="1A1A1A"/>
                </a:solidFill>
                <a:latin typeface="Segoe UI"/>
              </a:rPr>
              <a:t>2 · Prepare</a:t>
            </a:r>
          </a:p>
          <a:p>
            <a:pPr>
              <a:lnSpc>
                <a:spcPct val="120000"/>
              </a:lnSpc>
              <a:spcAft>
                <a:spcPts val="0"/>
              </a:spcAft>
            </a:pPr>
            <a:r>
              <a:rPr sz="850" b="0" i="0">
                <a:solidFill>
                  <a:srgbClr val="767676"/>
                </a:solidFill>
                <a:latin typeface="Segoe UI"/>
              </a:rPr>
              <a:t>Audit, clean, engineer. No leakage</a:t>
            </a:r>
          </a:p>
        </p:txBody>
      </p:sp>
      <p:sp>
        <p:nvSpPr>
          <p:cNvPr id="19" name="Rounded Rectangle 18"/>
          <p:cNvSpPr/>
          <p:nvPr/>
        </p:nvSpPr>
        <p:spPr>
          <a:xfrm>
            <a:off x="5105278" y="3383280"/>
            <a:ext cx="1981139" cy="96012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64712" y="3383280"/>
            <a:ext cx="1862271"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69870" y="3566160"/>
            <a:ext cx="1651955" cy="731520"/>
          </a:xfrm>
          <a:prstGeom prst="rect">
            <a:avLst/>
          </a:prstGeom>
          <a:noFill/>
        </p:spPr>
        <p:txBody>
          <a:bodyPr wrap="square" anchor="t" lIns="0" rIns="0" tIns="0" bIns="0">
            <a:spAutoFit/>
          </a:bodyPr>
          <a:lstStyle/>
          <a:p>
            <a:pPr algn="l">
              <a:spcAft>
                <a:spcPts val="300"/>
              </a:spcAft>
            </a:pPr>
            <a:r>
              <a:rPr sz="1050" b="1" i="0">
                <a:solidFill>
                  <a:srgbClr val="1A1A1A"/>
                </a:solidFill>
                <a:latin typeface="Segoe UI"/>
              </a:rPr>
              <a:t>3 · Model</a:t>
            </a:r>
          </a:p>
          <a:p>
            <a:pPr>
              <a:lnSpc>
                <a:spcPct val="120000"/>
              </a:lnSpc>
              <a:spcAft>
                <a:spcPts val="0"/>
              </a:spcAft>
            </a:pPr>
            <a:r>
              <a:rPr sz="850" b="0" i="0">
                <a:solidFill>
                  <a:srgbClr val="767676"/>
                </a:solidFill>
                <a:latin typeface="Segoe UI"/>
              </a:rPr>
              <a:t>Segment customers + predict losses</a:t>
            </a:r>
          </a:p>
        </p:txBody>
      </p:sp>
      <p:sp>
        <p:nvSpPr>
          <p:cNvPr id="22" name="Rounded Rectangle 21"/>
          <p:cNvSpPr/>
          <p:nvPr/>
        </p:nvSpPr>
        <p:spPr>
          <a:xfrm>
            <a:off x="7223577" y="3383280"/>
            <a:ext cx="1981139" cy="96012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3011" y="3383280"/>
            <a:ext cx="1862271"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88169" y="3566160"/>
            <a:ext cx="1651955" cy="731520"/>
          </a:xfrm>
          <a:prstGeom prst="rect">
            <a:avLst/>
          </a:prstGeom>
          <a:noFill/>
        </p:spPr>
        <p:txBody>
          <a:bodyPr wrap="square" anchor="t" lIns="0" rIns="0" tIns="0" bIns="0">
            <a:spAutoFit/>
          </a:bodyPr>
          <a:lstStyle/>
          <a:p>
            <a:pPr algn="l">
              <a:spcAft>
                <a:spcPts val="300"/>
              </a:spcAft>
            </a:pPr>
            <a:r>
              <a:rPr sz="1050" b="1" i="0">
                <a:solidFill>
                  <a:srgbClr val="1A1A1A"/>
                </a:solidFill>
                <a:latin typeface="Segoe UI"/>
              </a:rPr>
              <a:t>4 · Communicate</a:t>
            </a:r>
          </a:p>
          <a:p>
            <a:pPr>
              <a:lnSpc>
                <a:spcPct val="120000"/>
              </a:lnSpc>
              <a:spcAft>
                <a:spcPts val="0"/>
              </a:spcAft>
            </a:pPr>
            <a:r>
              <a:rPr sz="850" b="0" i="0">
                <a:solidFill>
                  <a:srgbClr val="767676"/>
                </a:solidFill>
                <a:latin typeface="Segoe UI"/>
              </a:rPr>
              <a:t>Insights, recommendation, dashboard</a:t>
            </a:r>
          </a:p>
        </p:txBody>
      </p:sp>
      <p:sp>
        <p:nvSpPr>
          <p:cNvPr id="25" name="Rounded Rectangle 24"/>
          <p:cNvSpPr/>
          <p:nvPr/>
        </p:nvSpPr>
        <p:spPr>
          <a:xfrm>
            <a:off x="9341876" y="3383280"/>
            <a:ext cx="1981139" cy="96012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401310" y="3383280"/>
            <a:ext cx="1862271"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6468" y="3566160"/>
            <a:ext cx="1651955" cy="731520"/>
          </a:xfrm>
          <a:prstGeom prst="rect">
            <a:avLst/>
          </a:prstGeom>
          <a:noFill/>
        </p:spPr>
        <p:txBody>
          <a:bodyPr wrap="square" anchor="t" lIns="0" rIns="0" tIns="0" bIns="0">
            <a:spAutoFit/>
          </a:bodyPr>
          <a:lstStyle/>
          <a:p>
            <a:pPr algn="l">
              <a:spcAft>
                <a:spcPts val="300"/>
              </a:spcAft>
            </a:pPr>
            <a:r>
              <a:rPr sz="1050" b="1" i="0">
                <a:solidFill>
                  <a:srgbClr val="1A1A1A"/>
                </a:solidFill>
                <a:latin typeface="Segoe UI"/>
              </a:rPr>
              <a:t>5 · Ethics</a:t>
            </a:r>
          </a:p>
          <a:p>
            <a:pPr>
              <a:lnSpc>
                <a:spcPct val="120000"/>
              </a:lnSpc>
              <a:spcAft>
                <a:spcPts val="0"/>
              </a:spcAft>
            </a:pPr>
            <a:r>
              <a:rPr sz="850" b="0" i="0">
                <a:solidFill>
                  <a:srgbClr val="767676"/>
                </a:solidFill>
                <a:latin typeface="Segoe UI"/>
              </a:rPr>
              <a:t>Bias, privacy, honest limits</a:t>
            </a:r>
          </a:p>
        </p:txBody>
      </p:sp>
      <p:sp>
        <p:nvSpPr>
          <p:cNvPr id="28" name="Rectangle 27"/>
          <p:cNvSpPr/>
          <p:nvPr/>
        </p:nvSpPr>
        <p:spPr>
          <a:xfrm>
            <a:off x="868680" y="4572000"/>
            <a:ext cx="10454335" cy="914400"/>
          </a:xfrm>
          <a:prstGeom prst="rect">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572000"/>
            <a:ext cx="31750" cy="9144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8136" y="4709160"/>
            <a:ext cx="10015423" cy="731520"/>
          </a:xfrm>
          <a:prstGeom prst="rect">
            <a:avLst/>
          </a:prstGeom>
          <a:noFill/>
        </p:spPr>
        <p:txBody>
          <a:bodyPr wrap="square" anchor="t" lIns="0" rIns="0" tIns="0" bIns="0">
            <a:spAutoFit/>
          </a:bodyPr>
          <a:lstStyle/>
          <a:p>
            <a:pPr algn="l">
              <a:lnSpc>
                <a:spcPct val="130000"/>
              </a:lnSpc>
              <a:spcAft>
                <a:spcPts val="0"/>
              </a:spcAft>
            </a:pPr>
            <a:r>
              <a:rPr sz="1200" b="0" i="0">
                <a:solidFill>
                  <a:srgbClr val="5A5A5A"/>
                </a:solidFill>
                <a:latin typeface="Segoe UI"/>
              </a:rPr>
              <a:t>Every row is one car sale — </a:t>
            </a:r>
            <a:r>
              <a:rPr sz="1200" b="1" i="0">
                <a:solidFill>
                  <a:srgbClr val="5A5A5A"/>
                </a:solidFill>
                <a:latin typeface="Segoe UI"/>
              </a:rPr>
              <a:t>date, customer hash, comuna, brand, model, channel, list price, margin</a:t>
            </a:r>
            <a:r>
              <a:rPr sz="1200" b="0" i="0">
                <a:solidFill>
                  <a:srgbClr val="5A5A5A"/>
                </a:solidFill>
                <a:latin typeface="Segoe UI"/>
              </a:rPr>
              <a:t>; two channels, </a:t>
            </a:r>
            <a:r>
              <a:rPr sz="1200" b="1" i="0">
                <a:solidFill>
                  <a:srgbClr val="5A5A5A"/>
                </a:solidFill>
                <a:latin typeface="Segoe UI"/>
              </a:rPr>
              <a:t>ces</a:t>
            </a:r>
            <a:r>
              <a:rPr sz="1200" b="0" i="0">
                <a:solidFill>
                  <a:srgbClr val="5A5A5A"/>
                </a:solidFill>
                <a:latin typeface="Segoe UI"/>
              </a:rPr>
              <a:t> (dealer, 65%) and </a:t>
            </a:r>
            <a:r>
              <a:rPr sz="1200" b="1" i="0">
                <a:solidFill>
                  <a:srgbClr val="5A5A5A"/>
                </a:solidFill>
                <a:latin typeface="Segoe UI"/>
              </a:rPr>
              <a:t>propio</a:t>
            </a:r>
            <a:r>
              <a:rPr sz="1200" b="0" i="0">
                <a:solidFill>
                  <a:srgbClr val="5A5A5A"/>
                </a:solidFill>
                <a:latin typeface="Segoe UI"/>
              </a:rPr>
              <a:t> (owned, 35%). One honesty note: the money fields are </a:t>
            </a:r>
            <a:r>
              <a:rPr sz="1200" b="1" i="0">
                <a:solidFill>
                  <a:srgbClr val="5A5A5A"/>
                </a:solidFill>
                <a:latin typeface="Segoe UI"/>
              </a:rPr>
              <a:t>synthetic / obfuscated</a:t>
            </a:r>
            <a:r>
              <a:rPr sz="1200" b="0" i="0">
                <a:solidFill>
                  <a:srgbClr val="5A5A5A"/>
                </a:solidFill>
                <a:latin typeface="Segoe UI"/>
              </a:rPr>
              <a:t>, so every CLP figure is a </a:t>
            </a:r>
            <a:r>
              <a:rPr sz="1200" b="1" i="0">
                <a:solidFill>
                  <a:srgbClr val="5A5A5A"/>
                </a:solidFill>
                <a:latin typeface="Segoe UI"/>
              </a:rPr>
              <a:t>relative signal</a:t>
            </a:r>
            <a:r>
              <a:rPr sz="1200" b="0" i="0">
                <a:solidFill>
                  <a:srgbClr val="5A5A5A"/>
                </a:solidFill>
                <a:latin typeface="Segoe UI"/>
              </a:rPr>
              <a:t> — shares, ranks and trends are valid, absolute pesos are not audited financials.</a:t>
            </a:r>
          </a:p>
        </p:txBody>
      </p:sp>
      <p:sp>
        <p:nvSpPr>
          <p:cNvPr id="31" name="TextBox 30"/>
          <p:cNvSpPr txBox="1"/>
          <p:nvPr/>
        </p:nvSpPr>
        <p:spPr>
          <a:xfrm>
            <a:off x="868680" y="5623560"/>
            <a:ext cx="10454335" cy="411480"/>
          </a:xfrm>
          <a:prstGeom prst="rect">
            <a:avLst/>
          </a:prstGeom>
          <a:noFill/>
        </p:spPr>
        <p:txBody>
          <a:bodyPr wrap="square" anchor="t" lIns="0" rIns="0" tIns="0" bIns="0">
            <a:spAutoFit/>
          </a:bodyPr>
          <a:lstStyle/>
          <a:p>
            <a:pPr algn="l">
              <a:spcAft>
                <a:spcPts val="0"/>
              </a:spcAft>
            </a:pPr>
            <a:r>
              <a:rPr sz="1050" b="0" i="0">
                <a:solidFill>
                  <a:srgbClr val="767676"/>
                </a:solidFill>
                <a:latin typeface="Segoe UI"/>
              </a:rPr>
              <a:t>Python · pandas · scikit-learn · matplotlib · seed = 42 · one reproducible notebook — every number on every slide is exported by it into metrics.json.</a:t>
            </a:r>
          </a:p>
        </p:txBody>
      </p:sp>
      <p:sp>
        <p:nvSpPr>
          <p:cNvPr id="32" name="Rectangle 31"/>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Baptiste → Luis-Felipe</a:t>
            </a:r>
          </a:p>
        </p:txBody>
      </p:sp>
      <p:sp>
        <p:nvSpPr>
          <p:cNvPr id="34" name="TextBox 33"/>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Data, scope &amp; method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03 · PREPARE &amp; AUDIT — “CAN WE TRUST IT?”</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Clean data first. Then we found a leak.</a:t>
            </a:r>
          </a:p>
        </p:txBody>
      </p:sp>
      <p:sp>
        <p:nvSpPr>
          <p:cNvPr id="5" name="Rectangle 4"/>
          <p:cNvSpPr/>
          <p:nvPr/>
        </p:nvSpPr>
        <p:spPr>
          <a:xfrm>
            <a:off x="868680" y="2318004"/>
            <a:ext cx="118872" cy="118872"/>
          </a:xfrm>
          <a:prstGeom prst="rect">
            <a:avLst/>
          </a:prstGeom>
          <a:solidFill>
            <a:srgbClr val="C9C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2240280"/>
            <a:ext cx="6409944" cy="402336"/>
          </a:xfrm>
          <a:prstGeom prst="rect">
            <a:avLst/>
          </a:prstGeom>
          <a:noFill/>
        </p:spPr>
        <p:txBody>
          <a:bodyPr wrap="square" anchor="t" lIns="0" rIns="0" tIns="0" bIns="0">
            <a:spAutoFit/>
          </a:bodyPr>
          <a:lstStyle/>
          <a:p>
            <a:pPr algn="l">
              <a:lnSpc>
                <a:spcPct val="130000"/>
              </a:lnSpc>
              <a:spcAft>
                <a:spcPts val="0"/>
              </a:spcAft>
            </a:pPr>
            <a:r>
              <a:rPr sz="1400" b="1" i="0">
                <a:solidFill>
                  <a:srgbClr val="5A5A5A"/>
                </a:solidFill>
                <a:latin typeface="Segoe UI"/>
              </a:rPr>
              <a:t>&lt;1% missing</a:t>
            </a:r>
            <a:r>
              <a:rPr sz="1400" b="0" i="0">
                <a:solidFill>
                  <a:srgbClr val="5A5A5A"/>
                </a:solidFill>
                <a:latin typeface="Segoe UI"/>
              </a:rPr>
              <a:t>, zero duplicates, dates 100% consistent → safe to model.</a:t>
            </a:r>
          </a:p>
        </p:txBody>
      </p:sp>
      <p:sp>
        <p:nvSpPr>
          <p:cNvPr id="7" name="Rectangle 6"/>
          <p:cNvSpPr/>
          <p:nvPr/>
        </p:nvSpPr>
        <p:spPr>
          <a:xfrm>
            <a:off x="868680" y="2903220"/>
            <a:ext cx="118872" cy="118872"/>
          </a:xfrm>
          <a:prstGeom prst="rect">
            <a:avLst/>
          </a:prstGeom>
          <a:solidFill>
            <a:srgbClr val="C9C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9576" y="2825496"/>
            <a:ext cx="6409944" cy="402336"/>
          </a:xfrm>
          <a:prstGeom prst="rect">
            <a:avLst/>
          </a:prstGeom>
          <a:noFill/>
        </p:spPr>
        <p:txBody>
          <a:bodyPr wrap="square" anchor="t" lIns="0" rIns="0" tIns="0" bIns="0">
            <a:spAutoFit/>
          </a:bodyPr>
          <a:lstStyle/>
          <a:p>
            <a:pPr algn="l">
              <a:lnSpc>
                <a:spcPct val="130000"/>
              </a:lnSpc>
              <a:spcAft>
                <a:spcPts val="0"/>
              </a:spcAft>
            </a:pPr>
            <a:r>
              <a:rPr sz="1400" b="0" i="0">
                <a:solidFill>
                  <a:srgbClr val="5A5A5A"/>
                </a:solidFill>
                <a:latin typeface="Segoe UI"/>
              </a:rPr>
              <a:t>Missing comuna → flagged </a:t>
            </a:r>
            <a:r>
              <a:rPr sz="1400" b="1" i="0">
                <a:solidFill>
                  <a:srgbClr val="5A5A5A"/>
                </a:solidFill>
                <a:latin typeface="Segoe UI"/>
              </a:rPr>
              <a:t>UNKNOWN</a:t>
            </a:r>
            <a:r>
              <a:rPr sz="1400" b="0" i="0">
                <a:solidFill>
                  <a:srgbClr val="5A5A5A"/>
                </a:solidFill>
                <a:latin typeface="Segoe UI"/>
              </a:rPr>
              <a:t>, never dropped (dropping quietly shrinks revenue).</a:t>
            </a:r>
          </a:p>
        </p:txBody>
      </p:sp>
      <p:sp>
        <p:nvSpPr>
          <p:cNvPr id="9" name="Rectangle 8"/>
          <p:cNvSpPr/>
          <p:nvPr/>
        </p:nvSpPr>
        <p:spPr>
          <a:xfrm>
            <a:off x="868680" y="3488436"/>
            <a:ext cx="118872" cy="118872"/>
          </a:xfrm>
          <a:prstGeom prst="rect">
            <a:avLst/>
          </a:prstGeom>
          <a:solidFill>
            <a:srgbClr val="C9C8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9576" y="3410712"/>
            <a:ext cx="6409944" cy="402336"/>
          </a:xfrm>
          <a:prstGeom prst="rect">
            <a:avLst/>
          </a:prstGeom>
          <a:noFill/>
        </p:spPr>
        <p:txBody>
          <a:bodyPr wrap="square" anchor="t" lIns="0" rIns="0" tIns="0" bIns="0">
            <a:spAutoFit/>
          </a:bodyPr>
          <a:lstStyle/>
          <a:p>
            <a:pPr algn="l">
              <a:lnSpc>
                <a:spcPct val="130000"/>
              </a:lnSpc>
              <a:spcAft>
                <a:spcPts val="0"/>
              </a:spcAft>
            </a:pPr>
            <a:r>
              <a:rPr sz="1400" b="0" i="0">
                <a:solidFill>
                  <a:srgbClr val="5A5A5A"/>
                </a:solidFill>
                <a:latin typeface="Segoe UI"/>
              </a:rPr>
              <a:t>Dropped the redundant </a:t>
            </a:r>
            <a:r>
              <a:rPr sz="1400" b="1" i="0">
                <a:solidFill>
                  <a:srgbClr val="5A5A5A"/>
                </a:solidFill>
                <a:latin typeface="Segoe UI"/>
              </a:rPr>
              <a:t>year</a:t>
            </a:r>
            <a:r>
              <a:rPr sz="1400" b="0" i="0">
                <a:solidFill>
                  <a:srgbClr val="5A5A5A"/>
                </a:solidFill>
                <a:latin typeface="Segoe UI"/>
              </a:rPr>
              <a:t> column; log-scaled skewed spend before clustering.</a:t>
            </a:r>
          </a:p>
        </p:txBody>
      </p:sp>
      <p:sp>
        <p:nvSpPr>
          <p:cNvPr id="11" name="Rectangle 10"/>
          <p:cNvSpPr/>
          <p:nvPr/>
        </p:nvSpPr>
        <p:spPr>
          <a:xfrm>
            <a:off x="868680" y="4073652"/>
            <a:ext cx="118872" cy="118872"/>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9576" y="3995928"/>
            <a:ext cx="6409944" cy="402336"/>
          </a:xfrm>
          <a:prstGeom prst="rect">
            <a:avLst/>
          </a:prstGeom>
          <a:noFill/>
        </p:spPr>
        <p:txBody>
          <a:bodyPr wrap="square" anchor="t" lIns="0" rIns="0" tIns="0" bIns="0">
            <a:spAutoFit/>
          </a:bodyPr>
          <a:lstStyle/>
          <a:p>
            <a:pPr algn="l">
              <a:lnSpc>
                <a:spcPct val="130000"/>
              </a:lnSpc>
              <a:spcAft>
                <a:spcPts val="0"/>
              </a:spcAft>
            </a:pPr>
            <a:r>
              <a:rPr sz="1400" b="1" i="0">
                <a:solidFill>
                  <a:srgbClr val="5A5A5A"/>
                </a:solidFill>
                <a:latin typeface="Segoe UI"/>
              </a:rPr>
              <a:t>11,966 sales (2.18%) lose money</a:t>
            </a:r>
            <a:r>
              <a:rPr sz="1400" b="0" i="0">
                <a:solidFill>
                  <a:srgbClr val="5A5A5A"/>
                </a:solidFill>
                <a:latin typeface="Segoe UI"/>
              </a:rPr>
              <a:t> — sold below cost. A real finding, not a parsing error.</a:t>
            </a:r>
          </a:p>
        </p:txBody>
      </p:sp>
      <p:sp>
        <p:nvSpPr>
          <p:cNvPr id="13" name="Rounded Rectangle 12"/>
          <p:cNvSpPr/>
          <p:nvPr/>
        </p:nvSpPr>
        <p:spPr>
          <a:xfrm>
            <a:off x="7772400" y="2240280"/>
            <a:ext cx="3550615" cy="233172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2606040"/>
            <a:ext cx="3550615" cy="914400"/>
          </a:xfrm>
          <a:prstGeom prst="rect">
            <a:avLst/>
          </a:prstGeom>
          <a:noFill/>
        </p:spPr>
        <p:txBody>
          <a:bodyPr wrap="square" anchor="t" lIns="0" rIns="0" tIns="0" bIns="0">
            <a:spAutoFit/>
          </a:bodyPr>
          <a:lstStyle/>
          <a:p>
            <a:pPr algn="ctr">
              <a:spcAft>
                <a:spcPts val="0"/>
              </a:spcAft>
            </a:pPr>
            <a:r>
              <a:rPr sz="4600" b="1" i="0">
                <a:solidFill>
                  <a:srgbClr val="C00512"/>
                </a:solidFill>
                <a:latin typeface="Segoe UI"/>
              </a:rPr>
              <a:t>6.84 bn</a:t>
            </a:r>
          </a:p>
        </p:txBody>
      </p:sp>
      <p:sp>
        <p:nvSpPr>
          <p:cNvPr id="15" name="TextBox 14"/>
          <p:cNvSpPr txBox="1"/>
          <p:nvPr/>
        </p:nvSpPr>
        <p:spPr>
          <a:xfrm>
            <a:off x="8046720" y="3611880"/>
            <a:ext cx="3001975" cy="914400"/>
          </a:xfrm>
          <a:prstGeom prst="rect">
            <a:avLst/>
          </a:prstGeom>
          <a:noFill/>
        </p:spPr>
        <p:txBody>
          <a:bodyPr wrap="square" anchor="t" lIns="0" rIns="0" tIns="0" bIns="0">
            <a:spAutoFit/>
          </a:bodyPr>
          <a:lstStyle/>
          <a:p>
            <a:pPr algn="ctr">
              <a:lnSpc>
                <a:spcPct val="125000"/>
              </a:lnSpc>
              <a:spcAft>
                <a:spcPts val="400"/>
              </a:spcAft>
            </a:pPr>
            <a:r>
              <a:rPr sz="1100" b="0" i="0">
                <a:solidFill>
                  <a:srgbClr val="767676"/>
                </a:solidFill>
                <a:latin typeface="Segoe UI"/>
              </a:rPr>
              <a:t>CLP of margin leaked through loss-making deals</a:t>
            </a:r>
          </a:p>
          <a:p>
            <a:pPr algn="ctr">
              <a:spcAft>
                <a:spcPts val="0"/>
              </a:spcAft>
            </a:pPr>
            <a:r>
              <a:rPr sz="1100" b="1" i="0">
                <a:solidFill>
                  <a:srgbClr val="1A1A1A"/>
                </a:solidFill>
                <a:latin typeface="Segoe UI"/>
              </a:rPr>
              <a:t>≈ 2.7% of all retail margin (synthetic money)</a:t>
            </a:r>
          </a:p>
        </p:txBody>
      </p:sp>
      <p:sp>
        <p:nvSpPr>
          <p:cNvPr id="16" name="Rectangle 15"/>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Luis-Felipe</a:t>
            </a:r>
          </a:p>
        </p:txBody>
      </p:sp>
      <p:sp>
        <p:nvSpPr>
          <p:cNvPr id="18" name="TextBox 17"/>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Data prep &amp; quality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04 · EDA — BRAND MIX</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One brand carries the business.</a:t>
            </a:r>
          </a:p>
        </p:txBody>
      </p:sp>
      <p:graphicFrame>
        <p:nvGraphicFramePr>
          <p:cNvPr id="5" name="Chart 4"/>
          <p:cNvGraphicFramePr>
            <a:graphicFrameLocks noGrp="1"/>
          </p:cNvGraphicFramePr>
          <p:nvPr/>
        </p:nvGraphicFramePr>
        <p:xfrm>
          <a:off x="868680" y="1965960"/>
          <a:ext cx="10271455" cy="3703320"/>
        </p:xfrm>
        <a:graphic>
          <a:graphicData uri="http://schemas.openxmlformats.org/drawingml/2006/chart">
            <c:chart xmlns:c="http://schemas.openxmlformats.org/drawingml/2006/chart" r:id="rId2"/>
          </a:graphicData>
        </a:graphic>
      </p:graphicFrame>
      <p:sp>
        <p:nvSpPr>
          <p:cNvPr id="6" name="TextBox 5"/>
          <p:cNvSpPr txBox="1"/>
          <p:nvPr/>
        </p:nvSpPr>
        <p:spPr>
          <a:xfrm>
            <a:off x="868680" y="5760720"/>
            <a:ext cx="10454335" cy="548640"/>
          </a:xfrm>
          <a:prstGeom prst="rect">
            <a:avLst/>
          </a:prstGeom>
          <a:noFill/>
        </p:spPr>
        <p:txBody>
          <a:bodyPr wrap="square" anchor="t" lIns="0" rIns="0" tIns="0" bIns="0">
            <a:spAutoFit/>
          </a:bodyPr>
          <a:lstStyle/>
          <a:p>
            <a:pPr algn="l">
              <a:lnSpc>
                <a:spcPct val="130000"/>
              </a:lnSpc>
              <a:spcAft>
                <a:spcPts val="0"/>
              </a:spcAft>
            </a:pPr>
            <a:r>
              <a:rPr sz="1100" b="0" i="0">
                <a:solidFill>
                  <a:srgbClr val="8C0410"/>
                </a:solidFill>
                <a:latin typeface="Segoe UI"/>
              </a:rPr>
              <a:t>■ red = Chinese brand      ■ blue = incumbent brand   —   </a:t>
            </a:r>
            <a:r>
              <a:rPr sz="1100" b="1" i="0">
                <a:solidFill>
                  <a:srgbClr val="767676"/>
                </a:solidFill>
                <a:latin typeface="Segoe UI"/>
              </a:rPr>
              <a:t>Suzuki alone is 38.8%</a:t>
            </a:r>
            <a:r>
              <a:rPr sz="1100" b="0" i="0">
                <a:solidFill>
                  <a:srgbClr val="767676"/>
                </a:solidFill>
                <a:latin typeface="Segoe UI"/>
              </a:rPr>
              <a:t> of all 550,032 transactions → single-brand dependence risk.</a:t>
            </a:r>
          </a:p>
        </p:txBody>
      </p:sp>
      <p:sp>
        <p:nvSpPr>
          <p:cNvPr id="7" name="Rectangle 6"/>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Luis-Felipe</a:t>
            </a:r>
          </a:p>
        </p:txBody>
      </p:sp>
      <p:sp>
        <p:nvSpPr>
          <p:cNvPr id="9" name="TextBox 8"/>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EDA · concentration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05 · THE HEADLINE</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China won the shelf.</a:t>
            </a:r>
          </a:p>
        </p:txBody>
      </p:sp>
      <p:graphicFrame>
        <p:nvGraphicFramePr>
          <p:cNvPr id="5" name="Chart 4"/>
          <p:cNvGraphicFramePr>
            <a:graphicFrameLocks noGrp="1"/>
          </p:cNvGraphicFramePr>
          <p:nvPr/>
        </p:nvGraphicFramePr>
        <p:xfrm>
          <a:off x="868680" y="1920240"/>
          <a:ext cx="10271455" cy="3429000"/>
        </p:xfrm>
        <a:graphic>
          <a:graphicData uri="http://schemas.openxmlformats.org/drawingml/2006/chart">
            <c:chart xmlns:c="http://schemas.openxmlformats.org/drawingml/2006/chart" r:id="rId2"/>
          </a:graphicData>
        </a:graphic>
      </p:graphicFrame>
      <p:sp>
        <p:nvSpPr>
          <p:cNvPr id="6" name="TextBox 5"/>
          <p:cNvSpPr txBox="1"/>
          <p:nvPr/>
        </p:nvSpPr>
        <p:spPr>
          <a:xfrm>
            <a:off x="1188720" y="4546854"/>
            <a:ext cx="1371600" cy="365760"/>
          </a:xfrm>
          <a:prstGeom prst="rect">
            <a:avLst/>
          </a:prstGeom>
          <a:noFill/>
        </p:spPr>
        <p:txBody>
          <a:bodyPr wrap="square" anchor="t" lIns="0" rIns="0" tIns="0" bIns="0">
            <a:spAutoFit/>
          </a:bodyPr>
          <a:lstStyle/>
          <a:p>
            <a:pPr algn="l">
              <a:spcAft>
                <a:spcPts val="0"/>
              </a:spcAft>
            </a:pPr>
            <a:r>
              <a:rPr sz="1600" b="1" i="0">
                <a:solidFill>
                  <a:srgbClr val="8C0410"/>
                </a:solidFill>
                <a:latin typeface="Segoe UI"/>
              </a:rPr>
              <a:t>12.2%</a:t>
            </a:r>
          </a:p>
        </p:txBody>
      </p:sp>
      <p:sp>
        <p:nvSpPr>
          <p:cNvPr id="7" name="TextBox 6"/>
          <p:cNvSpPr txBox="1"/>
          <p:nvPr/>
        </p:nvSpPr>
        <p:spPr>
          <a:xfrm>
            <a:off x="10561320" y="3188970"/>
            <a:ext cx="1371600" cy="365760"/>
          </a:xfrm>
          <a:prstGeom prst="rect">
            <a:avLst/>
          </a:prstGeom>
          <a:noFill/>
        </p:spPr>
        <p:txBody>
          <a:bodyPr wrap="square" anchor="t" lIns="0" rIns="0" tIns="0" bIns="0">
            <a:spAutoFit/>
          </a:bodyPr>
          <a:lstStyle/>
          <a:p>
            <a:pPr algn="r">
              <a:spcAft>
                <a:spcPts val="0"/>
              </a:spcAft>
            </a:pPr>
            <a:r>
              <a:rPr sz="1600" b="1" i="0">
                <a:solidFill>
                  <a:srgbClr val="8C0410"/>
                </a:solidFill>
                <a:latin typeface="Segoe UI"/>
              </a:rPr>
              <a:t>51.8%</a:t>
            </a:r>
          </a:p>
        </p:txBody>
      </p:sp>
      <p:sp>
        <p:nvSpPr>
          <p:cNvPr id="8" name="TextBox 7"/>
          <p:cNvSpPr txBox="1"/>
          <p:nvPr/>
        </p:nvSpPr>
        <p:spPr>
          <a:xfrm>
            <a:off x="868680" y="5486400"/>
            <a:ext cx="10454335" cy="777240"/>
          </a:xfrm>
          <a:prstGeom prst="rect">
            <a:avLst/>
          </a:prstGeom>
          <a:noFill/>
        </p:spPr>
        <p:txBody>
          <a:bodyPr wrap="square" anchor="t" lIns="0" rIns="0" tIns="0" bIns="0">
            <a:spAutoFit/>
          </a:bodyPr>
          <a:lstStyle/>
          <a:p>
            <a:pPr algn="l">
              <a:lnSpc>
                <a:spcPct val="135000"/>
              </a:lnSpc>
              <a:spcAft>
                <a:spcPts val="0"/>
              </a:spcAft>
            </a:pPr>
            <a:r>
              <a:rPr sz="1100" b="0" i="0">
                <a:solidFill>
                  <a:srgbClr val="767676"/>
                </a:solidFill>
                <a:latin typeface="Segoe UI"/>
              </a:rPr>
              <a:t>Not a straight line — the share dipped to ~20% in 2015–16 before the 2019→2022 surge. But the direction is unambiguous: </a:t>
            </a:r>
            <a:r>
              <a:rPr sz="1100" b="1" i="0">
                <a:solidFill>
                  <a:srgbClr val="767676"/>
                </a:solidFill>
                <a:latin typeface="Segoe UI"/>
              </a:rPr>
              <a:t>Chinese brands now sell the majority (51.8%) of every car DERCO moves.</a:t>
            </a:r>
            <a:r>
              <a:rPr sz="1100" b="0" i="0">
                <a:solidFill>
                  <a:srgbClr val="767676"/>
                </a:solidFill>
                <a:latin typeface="Segoe UI"/>
              </a:rPr>
              <a:t> 2009 (from May) and 2022 (to March) are partial years — shares are valid, totals are not.</a:t>
            </a:r>
          </a:p>
        </p:txBody>
      </p:sp>
      <p:sp>
        <p:nvSpPr>
          <p:cNvPr id="9" name="Rectangle 8"/>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Luis-Felipe → Agustín</a:t>
            </a:r>
          </a:p>
        </p:txBody>
      </p:sp>
      <p:sp>
        <p:nvSpPr>
          <p:cNvPr id="11" name="TextBox 10"/>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The structural shift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06 · EDA — CHANNEL, GEOGRAPHY, RHYTHM</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Where, how, and when DERCO sells.</a:t>
            </a:r>
          </a:p>
        </p:txBody>
      </p:sp>
      <p:sp>
        <p:nvSpPr>
          <p:cNvPr id="5" name="Rounded Rectangle 4"/>
          <p:cNvSpPr/>
          <p:nvPr/>
        </p:nvSpPr>
        <p:spPr>
          <a:xfrm>
            <a:off x="868680" y="2011680"/>
            <a:ext cx="3332378" cy="16916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6424" y="2286000"/>
            <a:ext cx="2856890" cy="1307592"/>
          </a:xfrm>
          <a:prstGeom prst="rect">
            <a:avLst/>
          </a:prstGeom>
          <a:noFill/>
        </p:spPr>
        <p:txBody>
          <a:bodyPr wrap="square" anchor="t" lIns="0" rIns="0" tIns="0" bIns="0">
            <a:spAutoFit/>
          </a:bodyPr>
          <a:lstStyle/>
          <a:p>
            <a:pPr algn="l">
              <a:spcAft>
                <a:spcPts val="500"/>
              </a:spcAft>
            </a:pPr>
            <a:r>
              <a:rPr sz="3000" b="1" i="0">
                <a:solidFill>
                  <a:srgbClr val="1F5296"/>
                </a:solidFill>
                <a:latin typeface="Segoe UI"/>
              </a:rPr>
              <a:t>65 / 35</a:t>
            </a:r>
          </a:p>
          <a:p>
            <a:pPr>
              <a:lnSpc>
                <a:spcPct val="125000"/>
              </a:lnSpc>
              <a:spcAft>
                <a:spcPts val="0"/>
              </a:spcAft>
            </a:pPr>
            <a:r>
              <a:rPr sz="1050" b="0" i="0">
                <a:solidFill>
                  <a:srgbClr val="767676"/>
                </a:solidFill>
                <a:latin typeface="Segoe UI"/>
              </a:rPr>
              <a:t>dealer ces vs owned propio — and dealers also price better: 6.24% margin vs 5.2%</a:t>
            </a:r>
          </a:p>
        </p:txBody>
      </p:sp>
      <p:sp>
        <p:nvSpPr>
          <p:cNvPr id="7" name="Rounded Rectangle 6"/>
          <p:cNvSpPr/>
          <p:nvPr/>
        </p:nvSpPr>
        <p:spPr>
          <a:xfrm>
            <a:off x="4429658" y="2011680"/>
            <a:ext cx="3332378" cy="16916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7402" y="2286000"/>
            <a:ext cx="2856890" cy="130759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33.4%</a:t>
            </a:r>
          </a:p>
          <a:p>
            <a:pPr>
              <a:lnSpc>
                <a:spcPct val="125000"/>
              </a:lnSpc>
              <a:spcAft>
                <a:spcPts val="0"/>
              </a:spcAft>
            </a:pPr>
            <a:r>
              <a:rPr sz="1050" b="0" i="0">
                <a:solidFill>
                  <a:srgbClr val="767676"/>
                </a:solidFill>
                <a:latin typeface="Segoe UI"/>
              </a:rPr>
              <a:t>of all sales sit in the top-10 comunas — dense, but over-exposed to Santiago metro</a:t>
            </a:r>
          </a:p>
        </p:txBody>
      </p:sp>
      <p:sp>
        <p:nvSpPr>
          <p:cNvPr id="9" name="Rounded Rectangle 8"/>
          <p:cNvSpPr/>
          <p:nvPr/>
        </p:nvSpPr>
        <p:spPr>
          <a:xfrm>
            <a:off x="7990636" y="2011680"/>
            <a:ext cx="3332378" cy="16916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8380" y="2286000"/>
            <a:ext cx="2856890" cy="1307592"/>
          </a:xfrm>
          <a:prstGeom prst="rect">
            <a:avLst/>
          </a:prstGeom>
          <a:noFill/>
        </p:spPr>
        <p:txBody>
          <a:bodyPr wrap="square" anchor="t" lIns="0" rIns="0" tIns="0" bIns="0">
            <a:spAutoFit/>
          </a:bodyPr>
          <a:lstStyle/>
          <a:p>
            <a:pPr algn="l">
              <a:spcAft>
                <a:spcPts val="500"/>
              </a:spcAft>
            </a:pPr>
            <a:r>
              <a:rPr sz="3000" b="1" i="0">
                <a:solidFill>
                  <a:srgbClr val="1F5296"/>
                </a:solidFill>
                <a:latin typeface="Segoe UI"/>
              </a:rPr>
              <a:t>Aug ▲</a:t>
            </a:r>
          </a:p>
          <a:p>
            <a:pPr>
              <a:lnSpc>
                <a:spcPct val="125000"/>
              </a:lnSpc>
              <a:spcAft>
                <a:spcPts val="0"/>
              </a:spcAft>
            </a:pPr>
            <a:r>
              <a:rPr sz="1050" b="0" i="0">
                <a:solidFill>
                  <a:srgbClr val="767676"/>
                </a:solidFill>
                <a:latin typeface="Segoe UI"/>
              </a:rPr>
              <a:t>seasonal peak in August (December a close second), trough in April — plan stock &amp; campaigns to it</a:t>
            </a:r>
          </a:p>
        </p:txBody>
      </p:sp>
      <p:sp>
        <p:nvSpPr>
          <p:cNvPr id="11" name="Rounded Rectangle 10"/>
          <p:cNvSpPr/>
          <p:nvPr/>
        </p:nvSpPr>
        <p:spPr>
          <a:xfrm>
            <a:off x="868680" y="3977639"/>
            <a:ext cx="10454335" cy="1463040"/>
          </a:xfrm>
          <a:prstGeom prst="roundRect">
            <a:avLst>
              <a:gd name="adj" fmla="val 4500"/>
            </a:avLst>
          </a:prstGeom>
          <a:solidFill>
            <a:srgbClr val="FDECEC"/>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82310" y="3977639"/>
            <a:ext cx="9827075" cy="3175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224528"/>
            <a:ext cx="9814255" cy="1143000"/>
          </a:xfrm>
          <a:prstGeom prst="rect">
            <a:avLst/>
          </a:prstGeom>
          <a:noFill/>
        </p:spPr>
        <p:txBody>
          <a:bodyPr wrap="square" anchor="t" lIns="0" rIns="0" tIns="0" bIns="0">
            <a:spAutoFit/>
          </a:bodyPr>
          <a:lstStyle/>
          <a:p>
            <a:pPr algn="l">
              <a:spcAft>
                <a:spcPts val="700"/>
              </a:spcAft>
            </a:pPr>
            <a:r>
              <a:rPr sz="1300" b="1" i="0">
                <a:solidFill>
                  <a:srgbClr val="8C0410"/>
                </a:solidFill>
                <a:latin typeface="Segoe UI"/>
              </a:rPr>
              <a:t>The channel finding that points the second model</a:t>
            </a:r>
          </a:p>
          <a:p>
            <a:pPr>
              <a:lnSpc>
                <a:spcPct val="130000"/>
              </a:lnSpc>
              <a:spcAft>
                <a:spcPts val="0"/>
              </a:spcAft>
            </a:pPr>
            <a:r>
              <a:rPr sz="1300" b="0" i="0">
                <a:solidFill>
                  <a:srgbClr val="5A5A5A"/>
                </a:solidFill>
                <a:latin typeface="Segoe UI"/>
              </a:rPr>
              <a:t>DERCO's </a:t>
            </a:r>
            <a:r>
              <a:rPr sz="1300" b="1" i="0">
                <a:solidFill>
                  <a:srgbClr val="5A5A5A"/>
                </a:solidFill>
                <a:latin typeface="Segoe UI"/>
              </a:rPr>
              <a:t>own stores close 5.4% of deals below cost</a:t>
            </a:r>
            <a:r>
              <a:rPr sz="1300" b="0" i="0">
                <a:solidFill>
                  <a:srgbClr val="5A5A5A"/>
                </a:solidFill>
                <a:latin typeface="Segoe UI"/>
              </a:rPr>
              <a:t> against </a:t>
            </a:r>
            <a:r>
              <a:rPr sz="1300" b="1" i="0">
                <a:solidFill>
                  <a:srgbClr val="5A5A5A"/>
                </a:solidFill>
                <a:latin typeface="Segoe UI"/>
              </a:rPr>
              <a:t>0.5% at dealers</a:t>
            </a:r>
            <a:r>
              <a:rPr sz="1300" b="0" i="0">
                <a:solidFill>
                  <a:srgbClr val="5A5A5A"/>
                </a:solidFill>
                <a:latin typeface="Segoe UI"/>
              </a:rPr>
              <a:t> — an </a:t>
            </a:r>
            <a:r>
              <a:rPr sz="1300" b="1" i="0">
                <a:solidFill>
                  <a:srgbClr val="5A5A5A"/>
                </a:solidFill>
                <a:latin typeface="Segoe UI"/>
              </a:rPr>
              <a:t>~11× gap</a:t>
            </a:r>
            <a:r>
              <a:rPr sz="1300" b="0" i="0">
                <a:solidFill>
                  <a:srgbClr val="5A5A5A"/>
                </a:solidFill>
                <a:latin typeface="Segoe UI"/>
              </a:rPr>
              <a:t>. The margin leak is not spread evenly across the business; it is concentrated where DERCO controls the pricing.</a:t>
            </a:r>
          </a:p>
        </p:txBody>
      </p:sp>
      <p:sp>
        <p:nvSpPr>
          <p:cNvPr id="14" name="Rectangle 13"/>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Agustín</a:t>
            </a:r>
          </a:p>
        </p:txBody>
      </p:sp>
      <p:sp>
        <p:nvSpPr>
          <p:cNvPr id="16" name="TextBox 15"/>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EDA wrap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07 · MODEL A — CUSTOMER SEGMENTATION</a:t>
            </a:r>
          </a:p>
        </p:txBody>
      </p:sp>
      <p:sp>
        <p:nvSpPr>
          <p:cNvPr id="4" name="TextBox 3"/>
          <p:cNvSpPr txBox="1"/>
          <p:nvPr/>
        </p:nvSpPr>
        <p:spPr>
          <a:xfrm>
            <a:off x="868680" y="960120"/>
            <a:ext cx="10454335" cy="822960"/>
          </a:xfrm>
          <a:prstGeom prst="rect">
            <a:avLst/>
          </a:prstGeom>
          <a:noFill/>
        </p:spPr>
        <p:txBody>
          <a:bodyPr wrap="square" anchor="t" lIns="0" rIns="0" tIns="0" bIns="0">
            <a:spAutoFit/>
          </a:bodyPr>
          <a:lstStyle/>
          <a:p>
            <a:pPr algn="l">
              <a:lnSpc>
                <a:spcPct val="106000"/>
              </a:lnSpc>
              <a:spcAft>
                <a:spcPts val="0"/>
              </a:spcAft>
            </a:pPr>
            <a:r>
              <a:rPr sz="3000" b="1" i="0">
                <a:solidFill>
                  <a:srgbClr val="1A1A1A"/>
                </a:solidFill>
                <a:latin typeface="Segoe UI"/>
              </a:rPr>
              <a:t>Who should DERCO retain? The 14% that come back.</a:t>
            </a:r>
          </a:p>
        </p:txBody>
      </p:sp>
      <p:sp>
        <p:nvSpPr>
          <p:cNvPr id="5" name="TextBox 4"/>
          <p:cNvSpPr txBox="1"/>
          <p:nvPr/>
        </p:nvSpPr>
        <p:spPr>
          <a:xfrm>
            <a:off x="868680" y="1737360"/>
            <a:ext cx="10454335" cy="685800"/>
          </a:xfrm>
          <a:prstGeom prst="rect">
            <a:avLst/>
          </a:prstGeom>
          <a:noFill/>
        </p:spPr>
        <p:txBody>
          <a:bodyPr wrap="square" anchor="t" lIns="0" rIns="0" tIns="0" bIns="0">
            <a:spAutoFit/>
          </a:bodyPr>
          <a:lstStyle/>
          <a:p>
            <a:pPr algn="l">
              <a:lnSpc>
                <a:spcPct val="132000"/>
              </a:lnSpc>
              <a:spcAft>
                <a:spcPts val="0"/>
              </a:spcAft>
            </a:pPr>
            <a:r>
              <a:rPr sz="1250" b="0" i="0">
                <a:solidFill>
                  <a:srgbClr val="5A5A5A"/>
                </a:solidFill>
                <a:latin typeface="Segoe UI"/>
              </a:rPr>
              <a:t>RFM (Recency · Frequency · Monetary) → log-scaled → KMeans. We tested k = 2…7 with elbow + silhouette and chose </a:t>
            </a:r>
            <a:r>
              <a:rPr sz="1250" b="1" i="0">
                <a:solidFill>
                  <a:srgbClr val="5A5A5A"/>
                </a:solidFill>
                <a:latin typeface="Segoe UI"/>
              </a:rPr>
              <a:t>k = 4</a:t>
            </a:r>
            <a:r>
              <a:rPr sz="1250" b="0" i="0">
                <a:solidFill>
                  <a:srgbClr val="5A5A5A"/>
                </a:solidFill>
                <a:latin typeface="Segoe UI"/>
              </a:rPr>
              <a:t> — the elbow, a healthy silhouette, and four groups that map onto four real marketing plays.</a:t>
            </a:r>
          </a:p>
        </p:txBody>
      </p:sp>
      <p:graphicFrame>
        <p:nvGraphicFramePr>
          <p:cNvPr id="6" name="Chart 5"/>
          <p:cNvGraphicFramePr>
            <a:graphicFrameLocks noGrp="1"/>
          </p:cNvGraphicFramePr>
          <p:nvPr/>
        </p:nvGraphicFramePr>
        <p:xfrm>
          <a:off x="868680" y="2560320"/>
          <a:ext cx="6858000" cy="3017520"/>
        </p:xfrm>
        <a:graphic>
          <a:graphicData uri="http://schemas.openxmlformats.org/drawingml/2006/chart">
            <c:chart xmlns:c="http://schemas.openxmlformats.org/drawingml/2006/chart" r:id="rId2"/>
          </a:graphicData>
        </a:graphic>
      </p:graphicFrame>
      <p:sp>
        <p:nvSpPr>
          <p:cNvPr id="7" name="TextBox 6"/>
          <p:cNvSpPr txBox="1"/>
          <p:nvPr/>
        </p:nvSpPr>
        <p:spPr>
          <a:xfrm>
            <a:off x="8046720" y="2606040"/>
            <a:ext cx="3276295" cy="685800"/>
          </a:xfrm>
          <a:prstGeom prst="rect">
            <a:avLst/>
          </a:prstGeom>
          <a:noFill/>
        </p:spPr>
        <p:txBody>
          <a:bodyPr wrap="square" anchor="t" lIns="0" rIns="0" tIns="0" bIns="0">
            <a:spAutoFit/>
          </a:bodyPr>
          <a:lstStyle/>
          <a:p>
            <a:pPr algn="l">
              <a:spcAft>
                <a:spcPts val="0"/>
              </a:spcAft>
            </a:pPr>
            <a:r>
              <a:rPr sz="3400" b="1" i="0">
                <a:solidFill>
                  <a:srgbClr val="006300"/>
                </a:solidFill>
                <a:latin typeface="Segoe UI"/>
              </a:rPr>
              <a:t>14% → 26%</a:t>
            </a:r>
          </a:p>
        </p:txBody>
      </p:sp>
      <p:sp>
        <p:nvSpPr>
          <p:cNvPr id="8" name="TextBox 7"/>
          <p:cNvSpPr txBox="1"/>
          <p:nvPr/>
        </p:nvSpPr>
        <p:spPr>
          <a:xfrm>
            <a:off x="8046720" y="3310128"/>
            <a:ext cx="3276295" cy="960120"/>
          </a:xfrm>
          <a:prstGeom prst="rect">
            <a:avLst/>
          </a:prstGeom>
          <a:noFill/>
        </p:spPr>
        <p:txBody>
          <a:bodyPr wrap="square" anchor="t" lIns="0" rIns="0" tIns="0" bIns="0">
            <a:spAutoFit/>
          </a:bodyPr>
          <a:lstStyle/>
          <a:p>
            <a:pPr algn="l">
              <a:lnSpc>
                <a:spcPct val="130000"/>
              </a:lnSpc>
              <a:spcAft>
                <a:spcPts val="0"/>
              </a:spcAft>
            </a:pPr>
            <a:r>
              <a:rPr sz="1100" b="0" i="0">
                <a:solidFill>
                  <a:srgbClr val="5A5A5A"/>
                </a:solidFill>
                <a:latin typeface="Segoe UI"/>
              </a:rPr>
              <a:t>Champions are the </a:t>
            </a:r>
            <a:r>
              <a:rPr sz="1100" b="1" i="0">
                <a:solidFill>
                  <a:srgbClr val="5A5A5A"/>
                </a:solidFill>
                <a:latin typeface="Segoe UI"/>
              </a:rPr>
              <a:t>only</a:t>
            </a:r>
            <a:r>
              <a:rPr sz="1100" b="0" i="0">
                <a:solidFill>
                  <a:srgbClr val="5A5A5A"/>
                </a:solidFill>
                <a:latin typeface="Segoe UI"/>
              </a:rPr>
              <a:t> group that buys twice, and they carry the densest margin per customer in the business.</a:t>
            </a:r>
          </a:p>
        </p:txBody>
      </p:sp>
      <p:sp>
        <p:nvSpPr>
          <p:cNvPr id="9" name="Rounded Rectangle 8"/>
          <p:cNvSpPr/>
          <p:nvPr/>
        </p:nvSpPr>
        <p:spPr>
          <a:xfrm>
            <a:off x="8046720" y="4389120"/>
            <a:ext cx="3276295" cy="118872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4572000"/>
            <a:ext cx="3276295" cy="548640"/>
          </a:xfrm>
          <a:prstGeom prst="rect">
            <a:avLst/>
          </a:prstGeom>
          <a:noFill/>
        </p:spPr>
        <p:txBody>
          <a:bodyPr wrap="square" anchor="t" lIns="0" rIns="0" tIns="0" bIns="0">
            <a:spAutoFit/>
          </a:bodyPr>
          <a:lstStyle/>
          <a:p>
            <a:pPr algn="ctr">
              <a:spcAft>
                <a:spcPts val="0"/>
              </a:spcAft>
            </a:pPr>
            <a:r>
              <a:rPr sz="3600" b="1" i="0">
                <a:solidFill>
                  <a:srgbClr val="C00512"/>
                </a:solidFill>
                <a:latin typeface="Segoe UI"/>
              </a:rPr>
              <a:t>86%</a:t>
            </a:r>
          </a:p>
        </p:txBody>
      </p:sp>
      <p:sp>
        <p:nvSpPr>
          <p:cNvPr id="11" name="TextBox 10"/>
          <p:cNvSpPr txBox="1"/>
          <p:nvPr/>
        </p:nvSpPr>
        <p:spPr>
          <a:xfrm>
            <a:off x="8247888" y="5138928"/>
            <a:ext cx="2873959" cy="411480"/>
          </a:xfrm>
          <a:prstGeom prst="rect">
            <a:avLst/>
          </a:prstGeom>
          <a:noFill/>
        </p:spPr>
        <p:txBody>
          <a:bodyPr wrap="square" anchor="t" lIns="0" rIns="0" tIns="0" bIns="0">
            <a:spAutoFit/>
          </a:bodyPr>
          <a:lstStyle/>
          <a:p>
            <a:pPr algn="ctr">
              <a:lnSpc>
                <a:spcPct val="125000"/>
              </a:lnSpc>
              <a:spcAft>
                <a:spcPts val="0"/>
              </a:spcAft>
            </a:pPr>
            <a:r>
              <a:rPr sz="950" b="0" i="0">
                <a:solidFill>
                  <a:srgbClr val="767676"/>
                </a:solidFill>
                <a:latin typeface="Segoe UI"/>
              </a:rPr>
              <a:t>buy </a:t>
            </a:r>
            <a:r>
              <a:rPr sz="950" b="1" i="0">
                <a:solidFill>
                  <a:srgbClr val="767676"/>
                </a:solidFill>
                <a:latin typeface="Segoe UI"/>
              </a:rPr>
              <a:t>exactly once</a:t>
            </a:r>
            <a:r>
              <a:rPr sz="950" b="0" i="0">
                <a:solidFill>
                  <a:srgbClr val="767676"/>
                </a:solidFill>
                <a:latin typeface="Segoe UI"/>
              </a:rPr>
              <a:t> in 14 years → DERCO is </a:t>
            </a:r>
            <a:r>
              <a:rPr sz="950" b="1" i="0">
                <a:solidFill>
                  <a:srgbClr val="767676"/>
                </a:solidFill>
                <a:latin typeface="Segoe UI"/>
              </a:rPr>
              <a:t>transactional, not relational</a:t>
            </a:r>
          </a:p>
        </p:txBody>
      </p:sp>
      <p:sp>
        <p:nvSpPr>
          <p:cNvPr id="12" name="Rectangle 11"/>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Agustín</a:t>
            </a:r>
          </a:p>
        </p:txBody>
      </p:sp>
      <p:sp>
        <p:nvSpPr>
          <p:cNvPr id="14" name="TextBox 13"/>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Segmentation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08 · MODEL B — PREDICTING LOSS-MAKING DEALS</a:t>
            </a:r>
          </a:p>
        </p:txBody>
      </p:sp>
      <p:sp>
        <p:nvSpPr>
          <p:cNvPr id="4" name="TextBox 3"/>
          <p:cNvSpPr txBox="1"/>
          <p:nvPr/>
        </p:nvSpPr>
        <p:spPr>
          <a:xfrm>
            <a:off x="868680" y="960120"/>
            <a:ext cx="10454335" cy="73152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Flag the money-losers before they close.</a:t>
            </a:r>
          </a:p>
        </p:txBody>
      </p:sp>
      <p:sp>
        <p:nvSpPr>
          <p:cNvPr id="5" name="TextBox 4"/>
          <p:cNvSpPr txBox="1"/>
          <p:nvPr/>
        </p:nvSpPr>
        <p:spPr>
          <a:xfrm>
            <a:off x="868680" y="1783080"/>
            <a:ext cx="10454335" cy="822960"/>
          </a:xfrm>
          <a:prstGeom prst="rect">
            <a:avLst/>
          </a:prstGeom>
          <a:noFill/>
        </p:spPr>
        <p:txBody>
          <a:bodyPr wrap="square" anchor="t" lIns="0" rIns="0" tIns="0" bIns="0">
            <a:spAutoFit/>
          </a:bodyPr>
          <a:lstStyle/>
          <a:p>
            <a:pPr algn="l">
              <a:lnSpc>
                <a:spcPct val="132000"/>
              </a:lnSpc>
              <a:spcAft>
                <a:spcPts val="0"/>
              </a:spcAft>
            </a:pPr>
            <a:r>
              <a:rPr sz="1300" b="0" i="0">
                <a:solidFill>
                  <a:srgbClr val="5A5A5A"/>
                </a:solidFill>
                <a:latin typeface="Segoe UI"/>
              </a:rPr>
              <a:t>Supervised classifier on </a:t>
            </a:r>
            <a:r>
              <a:rPr sz="1300" b="1" i="0">
                <a:solidFill>
                  <a:srgbClr val="5A5A5A"/>
                </a:solidFill>
                <a:latin typeface="Segoe UI"/>
              </a:rPr>
              <a:t>pre-sale features only</a:t>
            </a:r>
            <a:r>
              <a:rPr sz="1300" b="0" i="0">
                <a:solidFill>
                  <a:srgbClr val="5A5A5A"/>
                </a:solidFill>
                <a:latin typeface="Segoe UI"/>
              </a:rPr>
              <a:t> — brand, channel, comuna, price, timing. </a:t>
            </a:r>
            <a:r>
              <a:rPr sz="1300" b="1" i="0">
                <a:solidFill>
                  <a:srgbClr val="5A5A5A"/>
                </a:solidFill>
                <a:latin typeface="Segoe UI"/>
              </a:rPr>
              <a:t>Margin is excluded to avoid leakage</a:t>
            </a:r>
            <a:r>
              <a:rPr sz="1300" b="0" i="0">
                <a:solidFill>
                  <a:srgbClr val="5A5A5A"/>
                </a:solidFill>
                <a:latin typeface="Segoe UI"/>
              </a:rPr>
              <a:t> (the target is derived from it). Dummy + logistic baselines → HistGradientBoosting, stratified hold-out + 5-fold CV.</a:t>
            </a:r>
          </a:p>
        </p:txBody>
      </p:sp>
      <p:sp>
        <p:nvSpPr>
          <p:cNvPr id="6" name="Rounded Rectangle 5"/>
          <p:cNvSpPr/>
          <p:nvPr/>
        </p:nvSpPr>
        <p:spPr>
          <a:xfrm>
            <a:off x="868680" y="2834640"/>
            <a:ext cx="3332378" cy="155448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3108960"/>
            <a:ext cx="2856890" cy="1170432"/>
          </a:xfrm>
          <a:prstGeom prst="rect">
            <a:avLst/>
          </a:prstGeom>
          <a:noFill/>
        </p:spPr>
        <p:txBody>
          <a:bodyPr wrap="square" anchor="t" lIns="0" rIns="0" tIns="0" bIns="0">
            <a:spAutoFit/>
          </a:bodyPr>
          <a:lstStyle/>
          <a:p>
            <a:pPr algn="l">
              <a:spcAft>
                <a:spcPts val="500"/>
              </a:spcAft>
            </a:pPr>
            <a:r>
              <a:rPr sz="3000" b="1" i="0">
                <a:solidFill>
                  <a:srgbClr val="1F5296"/>
                </a:solidFill>
                <a:latin typeface="Segoe UI"/>
              </a:rPr>
              <a:t>0.83</a:t>
            </a:r>
          </a:p>
          <a:p>
            <a:pPr>
              <a:lnSpc>
                <a:spcPct val="125000"/>
              </a:lnSpc>
              <a:spcAft>
                <a:spcPts val="0"/>
              </a:spcAft>
            </a:pPr>
            <a:r>
              <a:rPr sz="1050" b="0" i="0">
                <a:solidFill>
                  <a:srgbClr val="767676"/>
                </a:solidFill>
                <a:latin typeface="Segoe UI"/>
              </a:rPr>
              <a:t>ROC-AUC, 5-fold CV mean (0.855 on the hold-out; std 0.016)</a:t>
            </a:r>
          </a:p>
        </p:txBody>
      </p:sp>
      <p:sp>
        <p:nvSpPr>
          <p:cNvPr id="8" name="Rounded Rectangle 7"/>
          <p:cNvSpPr/>
          <p:nvPr/>
        </p:nvSpPr>
        <p:spPr>
          <a:xfrm>
            <a:off x="4429658" y="2834640"/>
            <a:ext cx="3332378" cy="155448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7402" y="3108960"/>
            <a:ext cx="2856890" cy="1170432"/>
          </a:xfrm>
          <a:prstGeom prst="rect">
            <a:avLst/>
          </a:prstGeom>
          <a:noFill/>
        </p:spPr>
        <p:txBody>
          <a:bodyPr wrap="square" anchor="t" lIns="0" rIns="0" tIns="0" bIns="0">
            <a:spAutoFit/>
          </a:bodyPr>
          <a:lstStyle/>
          <a:p>
            <a:pPr algn="l">
              <a:spcAft>
                <a:spcPts val="500"/>
              </a:spcAft>
            </a:pPr>
            <a:r>
              <a:rPr sz="3000" b="1" i="0">
                <a:solidFill>
                  <a:srgbClr val="1F5296"/>
                </a:solidFill>
                <a:latin typeface="Segoe UI"/>
              </a:rPr>
              <a:t>5.1×</a:t>
            </a:r>
          </a:p>
          <a:p>
            <a:pPr>
              <a:lnSpc>
                <a:spcPct val="125000"/>
              </a:lnSpc>
              <a:spcAft>
                <a:spcPts val="0"/>
              </a:spcAft>
            </a:pPr>
            <a:r>
              <a:rPr sz="1050" b="0" i="0">
                <a:solidFill>
                  <a:srgbClr val="767676"/>
                </a:solidFill>
                <a:latin typeface="Segoe UI"/>
              </a:rPr>
              <a:t>better than reviewing deals at random</a:t>
            </a:r>
          </a:p>
        </p:txBody>
      </p:sp>
      <p:sp>
        <p:nvSpPr>
          <p:cNvPr id="10" name="Rounded Rectangle 9"/>
          <p:cNvSpPr/>
          <p:nvPr/>
        </p:nvSpPr>
        <p:spPr>
          <a:xfrm>
            <a:off x="7990636" y="2834640"/>
            <a:ext cx="3332378" cy="155448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8380" y="3108960"/>
            <a:ext cx="2856890" cy="1170432"/>
          </a:xfrm>
          <a:prstGeom prst="rect">
            <a:avLst/>
          </a:prstGeom>
          <a:noFill/>
        </p:spPr>
        <p:txBody>
          <a:bodyPr wrap="square" anchor="t" lIns="0" rIns="0" tIns="0" bIns="0">
            <a:spAutoFit/>
          </a:bodyPr>
          <a:lstStyle/>
          <a:p>
            <a:pPr algn="l">
              <a:spcAft>
                <a:spcPts val="500"/>
              </a:spcAft>
            </a:pPr>
            <a:r>
              <a:rPr sz="3000" b="1" i="0">
                <a:solidFill>
                  <a:srgbClr val="006300"/>
                </a:solidFill>
                <a:latin typeface="Segoe UI"/>
              </a:rPr>
              <a:t>51%</a:t>
            </a:r>
          </a:p>
          <a:p>
            <a:pPr>
              <a:lnSpc>
                <a:spcPct val="125000"/>
              </a:lnSpc>
              <a:spcAft>
                <a:spcPts val="0"/>
              </a:spcAft>
            </a:pPr>
            <a:r>
              <a:rPr sz="1050" b="0" i="0">
                <a:solidFill>
                  <a:srgbClr val="767676"/>
                </a:solidFill>
                <a:latin typeface="Segoe UI"/>
              </a:rPr>
              <a:t>of all loss-making deals caught by reviewing just the top-10% riskiest</a:t>
            </a:r>
          </a:p>
        </p:txBody>
      </p:sp>
      <p:sp>
        <p:nvSpPr>
          <p:cNvPr id="12" name="Rectangle 11"/>
          <p:cNvSpPr/>
          <p:nvPr/>
        </p:nvSpPr>
        <p:spPr>
          <a:xfrm>
            <a:off x="868680" y="4709160"/>
            <a:ext cx="10454335" cy="777240"/>
          </a:xfrm>
          <a:prstGeom prst="rect">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4709160"/>
            <a:ext cx="31750" cy="77724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8136" y="4846320"/>
            <a:ext cx="10015423" cy="594359"/>
          </a:xfrm>
          <a:prstGeom prst="rect">
            <a:avLst/>
          </a:prstGeom>
          <a:noFill/>
        </p:spPr>
        <p:txBody>
          <a:bodyPr wrap="square" anchor="t" lIns="0" rIns="0" tIns="0" bIns="0">
            <a:spAutoFit/>
          </a:bodyPr>
          <a:lstStyle/>
          <a:p>
            <a:pPr algn="l">
              <a:lnSpc>
                <a:spcPct val="130000"/>
              </a:lnSpc>
              <a:spcAft>
                <a:spcPts val="0"/>
              </a:spcAft>
            </a:pPr>
            <a:r>
              <a:rPr sz="1200" b="1" i="0">
                <a:solidFill>
                  <a:srgbClr val="5A5A5A"/>
                </a:solidFill>
                <a:latin typeface="Segoe UI"/>
              </a:rPr>
              <a:t>Honest note:</a:t>
            </a:r>
            <a:r>
              <a:rPr sz="1200" b="0" i="0">
                <a:solidFill>
                  <a:srgbClr val="5A5A5A"/>
                </a:solidFill>
                <a:latin typeface="Segoe UI"/>
              </a:rPr>
              <a:t> losses are only 2.18% of deals, so PR-AUC is 0.142 — modest in absolute terms, ~6.5× the base rate. This is a </a:t>
            </a:r>
            <a:r>
              <a:rPr sz="1200" b="1" i="0">
                <a:solidFill>
                  <a:srgbClr val="5A5A5A"/>
                </a:solidFill>
                <a:latin typeface="Segoe UI"/>
              </a:rPr>
              <a:t>triage aid, not an auto-reject</a:t>
            </a:r>
            <a:r>
              <a:rPr sz="1200" b="0" i="0">
                <a:solidFill>
                  <a:srgbClr val="5A5A5A"/>
                </a:solidFill>
                <a:latin typeface="Segoe UI"/>
              </a:rPr>
              <a:t>: a human reviews every flag.</a:t>
            </a:r>
          </a:p>
        </p:txBody>
      </p:sp>
      <p:sp>
        <p:nvSpPr>
          <p:cNvPr id="15" name="Rectangle 14"/>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Agustín → Vicente</a:t>
            </a:r>
          </a:p>
        </p:txBody>
      </p:sp>
      <p:sp>
        <p:nvSpPr>
          <p:cNvPr id="17" name="TextBox 16"/>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Classification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09 · THE DASHBOARD</a:t>
            </a:r>
          </a:p>
        </p:txBody>
      </p:sp>
      <p:sp>
        <p:nvSpPr>
          <p:cNvPr id="4" name="TextBox 3"/>
          <p:cNvSpPr txBox="1"/>
          <p:nvPr/>
        </p:nvSpPr>
        <p:spPr>
          <a:xfrm>
            <a:off x="868680" y="960120"/>
            <a:ext cx="10454335" cy="73152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Six numbers, one screen.</a:t>
            </a:r>
          </a:p>
        </p:txBody>
      </p:sp>
      <p:sp>
        <p:nvSpPr>
          <p:cNvPr id="5" name="Rounded Rectangle 4"/>
          <p:cNvSpPr/>
          <p:nvPr/>
        </p:nvSpPr>
        <p:spPr>
          <a:xfrm>
            <a:off x="868680" y="2057400"/>
            <a:ext cx="3332378" cy="14630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6424" y="2331720"/>
            <a:ext cx="2856890" cy="107899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51.8%</a:t>
            </a:r>
          </a:p>
          <a:p>
            <a:pPr>
              <a:lnSpc>
                <a:spcPct val="125000"/>
              </a:lnSpc>
              <a:spcAft>
                <a:spcPts val="0"/>
              </a:spcAft>
            </a:pPr>
            <a:r>
              <a:rPr sz="1050" b="0" i="0">
                <a:solidFill>
                  <a:srgbClr val="767676"/>
                </a:solidFill>
                <a:latin typeface="Segoe UI"/>
              </a:rPr>
              <a:t>of 2022 sales are Chinese brands</a:t>
            </a:r>
          </a:p>
        </p:txBody>
      </p:sp>
      <p:sp>
        <p:nvSpPr>
          <p:cNvPr id="7" name="Rounded Rectangle 6"/>
          <p:cNvSpPr/>
          <p:nvPr/>
        </p:nvSpPr>
        <p:spPr>
          <a:xfrm>
            <a:off x="4429658" y="2057400"/>
            <a:ext cx="3332378" cy="14630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7402" y="2331720"/>
            <a:ext cx="2856890" cy="107899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85.9%</a:t>
            </a:r>
          </a:p>
          <a:p>
            <a:pPr>
              <a:lnSpc>
                <a:spcPct val="125000"/>
              </a:lnSpc>
              <a:spcAft>
                <a:spcPts val="0"/>
              </a:spcAft>
            </a:pPr>
            <a:r>
              <a:rPr sz="1050" b="0" i="0">
                <a:solidFill>
                  <a:srgbClr val="767676"/>
                </a:solidFill>
                <a:latin typeface="Segoe UI"/>
              </a:rPr>
              <a:t>of customers buy exactly once</a:t>
            </a:r>
          </a:p>
        </p:txBody>
      </p:sp>
      <p:sp>
        <p:nvSpPr>
          <p:cNvPr id="9" name="Rounded Rectangle 8"/>
          <p:cNvSpPr/>
          <p:nvPr/>
        </p:nvSpPr>
        <p:spPr>
          <a:xfrm>
            <a:off x="7990636" y="2057400"/>
            <a:ext cx="3332378" cy="14630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8380" y="2331720"/>
            <a:ext cx="2856890" cy="1078992"/>
          </a:xfrm>
          <a:prstGeom prst="rect">
            <a:avLst/>
          </a:prstGeom>
          <a:noFill/>
        </p:spPr>
        <p:txBody>
          <a:bodyPr wrap="square" anchor="t" lIns="0" rIns="0" tIns="0" bIns="0">
            <a:spAutoFit/>
          </a:bodyPr>
          <a:lstStyle/>
          <a:p>
            <a:pPr algn="l">
              <a:spcAft>
                <a:spcPts val="500"/>
              </a:spcAft>
            </a:pPr>
            <a:r>
              <a:rPr sz="3000" b="1" i="0">
                <a:solidFill>
                  <a:srgbClr val="006300"/>
                </a:solidFill>
                <a:latin typeface="Segoe UI"/>
              </a:rPr>
              <a:t>25.7%</a:t>
            </a:r>
          </a:p>
          <a:p>
            <a:pPr>
              <a:lnSpc>
                <a:spcPct val="125000"/>
              </a:lnSpc>
              <a:spcAft>
                <a:spcPts val="0"/>
              </a:spcAft>
            </a:pPr>
            <a:r>
              <a:rPr sz="1050" b="0" i="0">
                <a:solidFill>
                  <a:srgbClr val="767676"/>
                </a:solidFill>
                <a:latin typeface="Segoe UI"/>
              </a:rPr>
              <a:t>of margin from the 14% Champions</a:t>
            </a:r>
          </a:p>
        </p:txBody>
      </p:sp>
      <p:sp>
        <p:nvSpPr>
          <p:cNvPr id="11" name="Rounded Rectangle 10"/>
          <p:cNvSpPr/>
          <p:nvPr/>
        </p:nvSpPr>
        <p:spPr>
          <a:xfrm>
            <a:off x="868680" y="3749039"/>
            <a:ext cx="3332378" cy="14630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4023359"/>
            <a:ext cx="2856890" cy="1078992"/>
          </a:xfrm>
          <a:prstGeom prst="rect">
            <a:avLst/>
          </a:prstGeom>
          <a:noFill/>
        </p:spPr>
        <p:txBody>
          <a:bodyPr wrap="square" anchor="t" lIns="0" rIns="0" tIns="0" bIns="0">
            <a:spAutoFit/>
          </a:bodyPr>
          <a:lstStyle/>
          <a:p>
            <a:pPr algn="l">
              <a:spcAft>
                <a:spcPts val="500"/>
              </a:spcAft>
            </a:pPr>
            <a:r>
              <a:rPr sz="3000" b="1" i="0">
                <a:solidFill>
                  <a:srgbClr val="8C0410"/>
                </a:solidFill>
                <a:latin typeface="Segoe UI"/>
              </a:rPr>
              <a:t>2.18%</a:t>
            </a:r>
          </a:p>
          <a:p>
            <a:pPr>
              <a:lnSpc>
                <a:spcPct val="125000"/>
              </a:lnSpc>
              <a:spcAft>
                <a:spcPts val="0"/>
              </a:spcAft>
            </a:pPr>
            <a:r>
              <a:rPr sz="1050" b="0" i="0">
                <a:solidFill>
                  <a:srgbClr val="767676"/>
                </a:solidFill>
                <a:latin typeface="Segoe UI"/>
              </a:rPr>
              <a:t>of deals close below cost</a:t>
            </a:r>
          </a:p>
        </p:txBody>
      </p:sp>
      <p:sp>
        <p:nvSpPr>
          <p:cNvPr id="13" name="Rounded Rectangle 12"/>
          <p:cNvSpPr/>
          <p:nvPr/>
        </p:nvSpPr>
        <p:spPr>
          <a:xfrm>
            <a:off x="4429658" y="3749039"/>
            <a:ext cx="3332378" cy="14630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7402" y="4023359"/>
            <a:ext cx="2856890" cy="1078992"/>
          </a:xfrm>
          <a:prstGeom prst="rect">
            <a:avLst/>
          </a:prstGeom>
          <a:noFill/>
        </p:spPr>
        <p:txBody>
          <a:bodyPr wrap="square" anchor="t" lIns="0" rIns="0" tIns="0" bIns="0">
            <a:spAutoFit/>
          </a:bodyPr>
          <a:lstStyle/>
          <a:p>
            <a:pPr algn="l">
              <a:spcAft>
                <a:spcPts val="500"/>
              </a:spcAft>
            </a:pPr>
            <a:r>
              <a:rPr sz="3000" b="1" i="0">
                <a:solidFill>
                  <a:srgbClr val="1F5296"/>
                </a:solidFill>
                <a:latin typeface="Segoe UI"/>
              </a:rPr>
              <a:t>38.8%</a:t>
            </a:r>
          </a:p>
          <a:p>
            <a:pPr>
              <a:lnSpc>
                <a:spcPct val="125000"/>
              </a:lnSpc>
              <a:spcAft>
                <a:spcPts val="0"/>
              </a:spcAft>
            </a:pPr>
            <a:r>
              <a:rPr sz="1050" b="0" i="0">
                <a:solidFill>
                  <a:srgbClr val="767676"/>
                </a:solidFill>
                <a:latin typeface="Segoe UI"/>
              </a:rPr>
              <a:t>Suzuki's share of volume — concentration risk</a:t>
            </a:r>
          </a:p>
        </p:txBody>
      </p:sp>
      <p:sp>
        <p:nvSpPr>
          <p:cNvPr id="15" name="Rounded Rectangle 14"/>
          <p:cNvSpPr/>
          <p:nvPr/>
        </p:nvSpPr>
        <p:spPr>
          <a:xfrm>
            <a:off x="7990636" y="3749039"/>
            <a:ext cx="3332378" cy="146304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8380" y="4023359"/>
            <a:ext cx="2856890" cy="1078992"/>
          </a:xfrm>
          <a:prstGeom prst="rect">
            <a:avLst/>
          </a:prstGeom>
          <a:noFill/>
        </p:spPr>
        <p:txBody>
          <a:bodyPr wrap="square" anchor="t" lIns="0" rIns="0" tIns="0" bIns="0">
            <a:spAutoFit/>
          </a:bodyPr>
          <a:lstStyle/>
          <a:p>
            <a:pPr algn="l">
              <a:spcAft>
                <a:spcPts val="500"/>
              </a:spcAft>
            </a:pPr>
            <a:r>
              <a:rPr sz="3000" b="1" i="0">
                <a:solidFill>
                  <a:srgbClr val="006300"/>
                </a:solidFill>
                <a:latin typeface="Segoe UI"/>
              </a:rPr>
              <a:t>50.6%</a:t>
            </a:r>
          </a:p>
          <a:p>
            <a:pPr>
              <a:lnSpc>
                <a:spcPct val="125000"/>
              </a:lnSpc>
              <a:spcAft>
                <a:spcPts val="0"/>
              </a:spcAft>
            </a:pPr>
            <a:r>
              <a:rPr sz="1050" b="0" i="0">
                <a:solidFill>
                  <a:srgbClr val="767676"/>
                </a:solidFill>
                <a:latin typeface="Segoe UI"/>
              </a:rPr>
              <a:t>of the leak recovered for review by checking the riskiest 10% of deals</a:t>
            </a:r>
          </a:p>
        </p:txBody>
      </p:sp>
      <p:sp>
        <p:nvSpPr>
          <p:cNvPr id="17" name="TextBox 16"/>
          <p:cNvSpPr txBox="1"/>
          <p:nvPr/>
        </p:nvSpPr>
        <p:spPr>
          <a:xfrm>
            <a:off x="868680" y="5532120"/>
            <a:ext cx="10454335" cy="640080"/>
          </a:xfrm>
          <a:prstGeom prst="rect">
            <a:avLst/>
          </a:prstGeom>
          <a:noFill/>
        </p:spPr>
        <p:txBody>
          <a:bodyPr wrap="square" anchor="t" lIns="0" rIns="0" tIns="0" bIns="0">
            <a:spAutoFit/>
          </a:bodyPr>
          <a:lstStyle/>
          <a:p>
            <a:pPr algn="l">
              <a:lnSpc>
                <a:spcPct val="130000"/>
              </a:lnSpc>
              <a:spcAft>
                <a:spcPts val="0"/>
              </a:spcAft>
            </a:pPr>
            <a:r>
              <a:rPr sz="1100" b="0" i="0">
                <a:solidFill>
                  <a:srgbClr val="767676"/>
                </a:solidFill>
                <a:latin typeface="Segoe UI"/>
              </a:rPr>
              <a:t>Live in presentation/index.html; the static twin is presentation/dashboard.png, written by the notebook. Both read the same metrics.json — no number is typed by hand.</a:t>
            </a:r>
          </a:p>
        </p:txBody>
      </p:sp>
      <p:sp>
        <p:nvSpPr>
          <p:cNvPr id="18" name="Rectangle 17"/>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Vicente</a:t>
            </a:r>
          </a:p>
        </p:txBody>
      </p:sp>
      <p:sp>
        <p:nvSpPr>
          <p:cNvPr id="20" name="TextBox 19"/>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10 · WHAT IT MEANS &amp; WHAT TO DO</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000" b="1" i="0">
                <a:solidFill>
                  <a:srgbClr val="1A1A1A"/>
                </a:solidFill>
                <a:latin typeface="Segoe UI"/>
              </a:rPr>
              <a:t>Five findings → one decision,
three funded moves.</a:t>
            </a:r>
          </a:p>
        </p:txBody>
      </p:sp>
      <p:sp>
        <p:nvSpPr>
          <p:cNvPr id="5" name="Rectangle 4"/>
          <p:cNvSpPr/>
          <p:nvPr/>
        </p:nvSpPr>
        <p:spPr>
          <a:xfrm>
            <a:off x="868680" y="2409444"/>
            <a:ext cx="118872" cy="118872"/>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2331720"/>
            <a:ext cx="6135624" cy="365760"/>
          </a:xfrm>
          <a:prstGeom prst="rect">
            <a:avLst/>
          </a:prstGeom>
          <a:noFill/>
        </p:spPr>
        <p:txBody>
          <a:bodyPr wrap="square" anchor="t" lIns="0" rIns="0" tIns="0" bIns="0">
            <a:spAutoFit/>
          </a:bodyPr>
          <a:lstStyle/>
          <a:p>
            <a:pPr algn="l">
              <a:lnSpc>
                <a:spcPct val="130000"/>
              </a:lnSpc>
              <a:spcAft>
                <a:spcPts val="0"/>
              </a:spcAft>
            </a:pPr>
            <a:r>
              <a:rPr sz="1250" b="1" i="0">
                <a:solidFill>
                  <a:srgbClr val="5A5A5A"/>
                </a:solidFill>
                <a:latin typeface="Segoe UI"/>
              </a:rPr>
              <a:t>China won the shelf</a:t>
            </a:r>
            <a:r>
              <a:rPr sz="1250" b="0" i="0">
                <a:solidFill>
                  <a:srgbClr val="5A5A5A"/>
                </a:solidFill>
                <a:latin typeface="Segoe UI"/>
              </a:rPr>
              <a:t> — 12% → 52% of sales. The core business, not a hedge.</a:t>
            </a:r>
          </a:p>
        </p:txBody>
      </p:sp>
      <p:sp>
        <p:nvSpPr>
          <p:cNvPr id="7" name="Rectangle 6"/>
          <p:cNvSpPr/>
          <p:nvPr/>
        </p:nvSpPr>
        <p:spPr>
          <a:xfrm>
            <a:off x="868680" y="2958084"/>
            <a:ext cx="118872" cy="118872"/>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9576" y="2880360"/>
            <a:ext cx="6135624" cy="365760"/>
          </a:xfrm>
          <a:prstGeom prst="rect">
            <a:avLst/>
          </a:prstGeom>
          <a:noFill/>
        </p:spPr>
        <p:txBody>
          <a:bodyPr wrap="square" anchor="t" lIns="0" rIns="0" tIns="0" bIns="0">
            <a:spAutoFit/>
          </a:bodyPr>
          <a:lstStyle/>
          <a:p>
            <a:pPr algn="l">
              <a:lnSpc>
                <a:spcPct val="130000"/>
              </a:lnSpc>
              <a:spcAft>
                <a:spcPts val="0"/>
              </a:spcAft>
            </a:pPr>
            <a:r>
              <a:rPr sz="1250" b="1" i="0">
                <a:solidFill>
                  <a:srgbClr val="5A5A5A"/>
                </a:solidFill>
                <a:latin typeface="Segoe UI"/>
              </a:rPr>
              <a:t>Transactional, not relational</a:t>
            </a:r>
            <a:r>
              <a:rPr sz="1250" b="0" i="0">
                <a:solidFill>
                  <a:srgbClr val="5A5A5A"/>
                </a:solidFill>
                <a:latin typeface="Segoe UI"/>
              </a:rPr>
              <a:t> — 86% buy once; the 14% Champions drive 26% of margin.</a:t>
            </a:r>
          </a:p>
        </p:txBody>
      </p:sp>
      <p:sp>
        <p:nvSpPr>
          <p:cNvPr id="9" name="Rectangle 8"/>
          <p:cNvSpPr/>
          <p:nvPr/>
        </p:nvSpPr>
        <p:spPr>
          <a:xfrm>
            <a:off x="868680" y="3506724"/>
            <a:ext cx="118872" cy="118872"/>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9576" y="3429000"/>
            <a:ext cx="6135624" cy="365760"/>
          </a:xfrm>
          <a:prstGeom prst="rect">
            <a:avLst/>
          </a:prstGeom>
          <a:noFill/>
        </p:spPr>
        <p:txBody>
          <a:bodyPr wrap="square" anchor="t" lIns="0" rIns="0" tIns="0" bIns="0">
            <a:spAutoFit/>
          </a:bodyPr>
          <a:lstStyle/>
          <a:p>
            <a:pPr algn="l">
              <a:lnSpc>
                <a:spcPct val="130000"/>
              </a:lnSpc>
              <a:spcAft>
                <a:spcPts val="0"/>
              </a:spcAft>
            </a:pPr>
            <a:r>
              <a:rPr sz="1250" b="1" i="0">
                <a:solidFill>
                  <a:srgbClr val="5A5A5A"/>
                </a:solidFill>
                <a:latin typeface="Segoe UI"/>
              </a:rPr>
              <a:t>~6.84 bn CLP leaks</a:t>
            </a:r>
            <a:r>
              <a:rPr sz="1250" b="0" i="0">
                <a:solidFill>
                  <a:srgbClr val="5A5A5A"/>
                </a:solidFill>
                <a:latin typeface="Segoe UI"/>
              </a:rPr>
              <a:t> through 2.18% loss-making deals, concentrated in the own-store channel.</a:t>
            </a:r>
          </a:p>
        </p:txBody>
      </p:sp>
      <p:sp>
        <p:nvSpPr>
          <p:cNvPr id="11" name="Rectangle 10"/>
          <p:cNvSpPr/>
          <p:nvPr/>
        </p:nvSpPr>
        <p:spPr>
          <a:xfrm>
            <a:off x="868680" y="4055364"/>
            <a:ext cx="118872" cy="11887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9576" y="3977640"/>
            <a:ext cx="6135624" cy="365760"/>
          </a:xfrm>
          <a:prstGeom prst="rect">
            <a:avLst/>
          </a:prstGeom>
          <a:noFill/>
        </p:spPr>
        <p:txBody>
          <a:bodyPr wrap="square" anchor="t" lIns="0" rIns="0" tIns="0" bIns="0">
            <a:spAutoFit/>
          </a:bodyPr>
          <a:lstStyle/>
          <a:p>
            <a:pPr algn="l">
              <a:lnSpc>
                <a:spcPct val="130000"/>
              </a:lnSpc>
              <a:spcAft>
                <a:spcPts val="0"/>
              </a:spcAft>
            </a:pPr>
            <a:r>
              <a:rPr sz="1250" b="1" i="0">
                <a:solidFill>
                  <a:srgbClr val="5A5A5A"/>
                </a:solidFill>
                <a:latin typeface="Segoe UI"/>
              </a:rPr>
              <a:t>Single-brand dependence</a:t>
            </a:r>
            <a:r>
              <a:rPr sz="1250" b="0" i="0">
                <a:solidFill>
                  <a:srgbClr val="5A5A5A"/>
                </a:solidFill>
                <a:latin typeface="Segoe UI"/>
              </a:rPr>
              <a:t> — Suzuki ≈ 39% of volume.</a:t>
            </a:r>
          </a:p>
        </p:txBody>
      </p:sp>
      <p:sp>
        <p:nvSpPr>
          <p:cNvPr id="13" name="Rectangle 12"/>
          <p:cNvSpPr/>
          <p:nvPr/>
        </p:nvSpPr>
        <p:spPr>
          <a:xfrm>
            <a:off x="868680" y="4604004"/>
            <a:ext cx="118872" cy="11887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4526280"/>
            <a:ext cx="6135624" cy="365760"/>
          </a:xfrm>
          <a:prstGeom prst="rect">
            <a:avLst/>
          </a:prstGeom>
          <a:noFill/>
        </p:spPr>
        <p:txBody>
          <a:bodyPr wrap="square" anchor="t" lIns="0" rIns="0" tIns="0" bIns="0">
            <a:spAutoFit/>
          </a:bodyPr>
          <a:lstStyle/>
          <a:p>
            <a:pPr algn="l">
              <a:lnSpc>
                <a:spcPct val="130000"/>
              </a:lnSpc>
              <a:spcAft>
                <a:spcPts val="0"/>
              </a:spcAft>
            </a:pPr>
            <a:r>
              <a:rPr sz="1250" b="1" i="0">
                <a:solidFill>
                  <a:srgbClr val="5A5A5A"/>
                </a:solidFill>
                <a:latin typeface="Segoe UI"/>
              </a:rPr>
              <a:t>Geographic over-exposure</a:t>
            </a:r>
            <a:r>
              <a:rPr sz="1250" b="0" i="0">
                <a:solidFill>
                  <a:srgbClr val="5A5A5A"/>
                </a:solidFill>
                <a:latin typeface="Segoe UI"/>
              </a:rPr>
              <a:t> — top-10 comunas ≈ 33% of sales.</a:t>
            </a:r>
          </a:p>
        </p:txBody>
      </p:sp>
      <p:sp>
        <p:nvSpPr>
          <p:cNvPr id="15" name="Rounded Rectangle 14"/>
          <p:cNvSpPr/>
          <p:nvPr/>
        </p:nvSpPr>
        <p:spPr>
          <a:xfrm>
            <a:off x="7680960" y="2240280"/>
            <a:ext cx="3642055" cy="114300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90221" y="2240280"/>
            <a:ext cx="3423532" cy="31750"/>
          </a:xfrm>
          <a:prstGeom prst="rect">
            <a:avLst/>
          </a:prstGeom>
          <a:solidFill>
            <a:srgbClr val="006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8704" y="2514600"/>
            <a:ext cx="3166567" cy="758952"/>
          </a:xfrm>
          <a:prstGeom prst="rect">
            <a:avLst/>
          </a:prstGeom>
          <a:noFill/>
        </p:spPr>
        <p:txBody>
          <a:bodyPr wrap="square" anchor="t" lIns="0" rIns="0" tIns="0" bIns="0">
            <a:spAutoFit/>
          </a:bodyPr>
          <a:lstStyle/>
          <a:p>
            <a:pPr algn="l">
              <a:spcAft>
                <a:spcPts val="500"/>
              </a:spcAft>
            </a:pPr>
            <a:r>
              <a:rPr sz="1200" b="1" i="0">
                <a:solidFill>
                  <a:srgbClr val="006300"/>
                </a:solidFill>
                <a:latin typeface="Segoe UI"/>
              </a:rPr>
              <a:t>1 · Retain</a:t>
            </a:r>
          </a:p>
          <a:p>
            <a:pPr>
              <a:lnSpc>
                <a:spcPct val="130000"/>
              </a:lnSpc>
              <a:spcAft>
                <a:spcPts val="0"/>
              </a:spcAft>
            </a:pPr>
            <a:r>
              <a:rPr sz="1150" b="0" i="0">
                <a:solidFill>
                  <a:srgbClr val="5A5A5A"/>
                </a:solidFill>
                <a:latin typeface="Segoe UI"/>
              </a:rPr>
              <a:t>Fund a </a:t>
            </a:r>
            <a:r>
              <a:rPr sz="1150" b="1" i="0">
                <a:solidFill>
                  <a:srgbClr val="5A5A5A"/>
                </a:solidFill>
                <a:latin typeface="Segoe UI"/>
              </a:rPr>
              <a:t>Champions-retention + one-timer-conversion</a:t>
            </a:r>
            <a:r>
              <a:rPr sz="1150" b="0" i="0">
                <a:solidFill>
                  <a:srgbClr val="5A5A5A"/>
                </a:solidFill>
                <a:latin typeface="Segoe UI"/>
              </a:rPr>
              <a:t> loyalty CRM.</a:t>
            </a:r>
          </a:p>
        </p:txBody>
      </p:sp>
      <p:sp>
        <p:nvSpPr>
          <p:cNvPr id="18" name="Rounded Rectangle 17"/>
          <p:cNvSpPr/>
          <p:nvPr/>
        </p:nvSpPr>
        <p:spPr>
          <a:xfrm>
            <a:off x="7680960" y="3538728"/>
            <a:ext cx="3642055" cy="114300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90221" y="3538728"/>
            <a:ext cx="3423532" cy="31750"/>
          </a:xfrm>
          <a:prstGeom prst="rect">
            <a:avLst/>
          </a:prstGeom>
          <a:solidFill>
            <a:srgbClr val="8C0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18704" y="3813048"/>
            <a:ext cx="3166567" cy="758952"/>
          </a:xfrm>
          <a:prstGeom prst="rect">
            <a:avLst/>
          </a:prstGeom>
          <a:noFill/>
        </p:spPr>
        <p:txBody>
          <a:bodyPr wrap="square" anchor="t" lIns="0" rIns="0" tIns="0" bIns="0">
            <a:spAutoFit/>
          </a:bodyPr>
          <a:lstStyle/>
          <a:p>
            <a:pPr algn="l">
              <a:spcAft>
                <a:spcPts val="500"/>
              </a:spcAft>
            </a:pPr>
            <a:r>
              <a:rPr sz="1200" b="1" i="0">
                <a:solidFill>
                  <a:srgbClr val="8C0410"/>
                </a:solidFill>
                <a:latin typeface="Segoe UI"/>
              </a:rPr>
              <a:t>2 · Formalise China</a:t>
            </a:r>
          </a:p>
          <a:p>
            <a:pPr>
              <a:lnSpc>
                <a:spcPct val="130000"/>
              </a:lnSpc>
              <a:spcAft>
                <a:spcPts val="0"/>
              </a:spcAft>
            </a:pPr>
            <a:r>
              <a:rPr sz="1150" b="0" i="0">
                <a:solidFill>
                  <a:srgbClr val="5A5A5A"/>
                </a:solidFill>
                <a:latin typeface="Segoe UI"/>
              </a:rPr>
              <a:t>Treat Chinese brands as a </a:t>
            </a:r>
            <a:r>
              <a:rPr sz="1150" b="1" i="0">
                <a:solidFill>
                  <a:srgbClr val="5A5A5A"/>
                </a:solidFill>
                <a:latin typeface="Segoe UI"/>
              </a:rPr>
              <a:t>first-class portfolio</a:t>
            </a:r>
            <a:r>
              <a:rPr sz="1150" b="0" i="0">
                <a:solidFill>
                  <a:srgbClr val="5A5A5A"/>
                </a:solidFill>
                <a:latin typeface="Segoe UI"/>
              </a:rPr>
              <a:t> — pricing, stock, marketing.</a:t>
            </a:r>
          </a:p>
        </p:txBody>
      </p:sp>
      <p:sp>
        <p:nvSpPr>
          <p:cNvPr id="21" name="Rounded Rectangle 20"/>
          <p:cNvSpPr/>
          <p:nvPr/>
        </p:nvSpPr>
        <p:spPr>
          <a:xfrm>
            <a:off x="7680960" y="4837176"/>
            <a:ext cx="3642055" cy="1143000"/>
          </a:xfrm>
          <a:prstGeom prst="roundRect">
            <a:avLst>
              <a:gd name="adj" fmla="val 4500"/>
            </a:avLst>
          </a:prstGeom>
          <a:solidFill>
            <a:srgbClr val="FBFBFA"/>
          </a:solidFill>
          <a:ln w="9525">
            <a:solidFill>
              <a:srgbClr val="E8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90221" y="4837176"/>
            <a:ext cx="3423532" cy="31750"/>
          </a:xfrm>
          <a:prstGeom prst="rect">
            <a:avLst/>
          </a:prstGeom>
          <a:solidFill>
            <a:srgbClr val="1F5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18704" y="5111496"/>
            <a:ext cx="3166567" cy="758952"/>
          </a:xfrm>
          <a:prstGeom prst="rect">
            <a:avLst/>
          </a:prstGeom>
          <a:noFill/>
        </p:spPr>
        <p:txBody>
          <a:bodyPr wrap="square" anchor="t" lIns="0" rIns="0" tIns="0" bIns="0">
            <a:spAutoFit/>
          </a:bodyPr>
          <a:lstStyle/>
          <a:p>
            <a:pPr algn="l">
              <a:spcAft>
                <a:spcPts val="500"/>
              </a:spcAft>
            </a:pPr>
            <a:r>
              <a:rPr sz="1200" b="1" i="0">
                <a:solidFill>
                  <a:srgbClr val="1F5296"/>
                </a:solidFill>
                <a:latin typeface="Segoe UI"/>
              </a:rPr>
              <a:t>3 · Plug the leak</a:t>
            </a:r>
          </a:p>
          <a:p>
            <a:pPr>
              <a:lnSpc>
                <a:spcPct val="130000"/>
              </a:lnSpc>
              <a:spcAft>
                <a:spcPts val="0"/>
              </a:spcAft>
            </a:pPr>
            <a:r>
              <a:rPr sz="1150" b="0" i="0">
                <a:solidFill>
                  <a:srgbClr val="5A5A5A"/>
                </a:solidFill>
                <a:latin typeface="Segoe UI"/>
              </a:rPr>
              <a:t>Classifier as a </a:t>
            </a:r>
            <a:r>
              <a:rPr sz="1150" b="1" i="0">
                <a:solidFill>
                  <a:srgbClr val="5A5A5A"/>
                </a:solidFill>
                <a:latin typeface="Segoe UI"/>
              </a:rPr>
              <a:t>pre-approval check</a:t>
            </a:r>
            <a:r>
              <a:rPr sz="1150" b="0" i="0">
                <a:solidFill>
                  <a:srgbClr val="5A5A5A"/>
                </a:solidFill>
                <a:latin typeface="Segoe UI"/>
              </a:rPr>
              <a:t> on the riskiest 10%, starting with own stores.</a:t>
            </a:r>
          </a:p>
        </p:txBody>
      </p:sp>
      <p:sp>
        <p:nvSpPr>
          <p:cNvPr id="24" name="Rectangle 23"/>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Vicente</a:t>
            </a:r>
          </a:p>
        </p:txBody>
      </p:sp>
      <p:sp>
        <p:nvSpPr>
          <p:cNvPr id="26" name="TextBox 25"/>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Insights &amp; recommendation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66928"/>
            <a:ext cx="10454335" cy="274320"/>
          </a:xfrm>
          <a:prstGeom prst="rect">
            <a:avLst/>
          </a:prstGeom>
          <a:noFill/>
        </p:spPr>
        <p:txBody>
          <a:bodyPr wrap="square" anchor="t" lIns="0" rIns="0" tIns="0" bIns="0">
            <a:spAutoFit/>
          </a:bodyPr>
          <a:lstStyle/>
          <a:p>
            <a:pPr algn="l">
              <a:spcAft>
                <a:spcPts val="0"/>
              </a:spcAft>
            </a:pPr>
            <a:r>
              <a:rPr sz="1100" b="1" i="0">
                <a:solidFill>
                  <a:srgbClr val="8C0410"/>
                </a:solidFill>
                <a:latin typeface="Segoe UI"/>
              </a:rPr>
              <a:t>11 · ETHICS, BIAS &amp; LIMITS</a:t>
            </a:r>
          </a:p>
        </p:txBody>
      </p:sp>
      <p:sp>
        <p:nvSpPr>
          <p:cNvPr id="4" name="TextBox 3"/>
          <p:cNvSpPr txBox="1"/>
          <p:nvPr/>
        </p:nvSpPr>
        <p:spPr>
          <a:xfrm>
            <a:off x="868680" y="960120"/>
            <a:ext cx="10454335" cy="1371600"/>
          </a:xfrm>
          <a:prstGeom prst="rect">
            <a:avLst/>
          </a:prstGeom>
          <a:noFill/>
        </p:spPr>
        <p:txBody>
          <a:bodyPr wrap="square" anchor="t" lIns="0" rIns="0" tIns="0" bIns="0">
            <a:spAutoFit/>
          </a:bodyPr>
          <a:lstStyle/>
          <a:p>
            <a:pPr algn="l">
              <a:lnSpc>
                <a:spcPct val="106000"/>
              </a:lnSpc>
              <a:spcAft>
                <a:spcPts val="0"/>
              </a:spcAft>
            </a:pPr>
            <a:r>
              <a:rPr sz="3400" b="1" i="0">
                <a:solidFill>
                  <a:srgbClr val="1A1A1A"/>
                </a:solidFill>
                <a:latin typeface="Segoe UI"/>
              </a:rPr>
              <a:t>What this analysis cannot say.</a:t>
            </a:r>
          </a:p>
        </p:txBody>
      </p:sp>
      <p:sp>
        <p:nvSpPr>
          <p:cNvPr id="5" name="Rectangle 4"/>
          <p:cNvSpPr/>
          <p:nvPr/>
        </p:nvSpPr>
        <p:spPr>
          <a:xfrm>
            <a:off x="868680" y="2382012"/>
            <a:ext cx="118872" cy="118872"/>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2304288"/>
            <a:ext cx="10143439" cy="365760"/>
          </a:xfrm>
          <a:prstGeom prst="rect">
            <a:avLst/>
          </a:prstGeom>
          <a:noFill/>
        </p:spPr>
        <p:txBody>
          <a:bodyPr wrap="square" anchor="t" lIns="0" rIns="0" tIns="0" bIns="0">
            <a:spAutoFit/>
          </a:bodyPr>
          <a:lstStyle/>
          <a:p>
            <a:pPr algn="l">
              <a:lnSpc>
                <a:spcPct val="130000"/>
              </a:lnSpc>
              <a:spcAft>
                <a:spcPts val="0"/>
              </a:spcAft>
            </a:pPr>
            <a:r>
              <a:rPr sz="1350" b="1" i="0">
                <a:solidFill>
                  <a:srgbClr val="5A5A5A"/>
                </a:solidFill>
                <a:latin typeface="Segoe UI"/>
              </a:rPr>
              <a:t>Synthetic money</a:t>
            </a:r>
            <a:r>
              <a:rPr sz="1350" b="0" i="0">
                <a:solidFill>
                  <a:srgbClr val="5A5A5A"/>
                </a:solidFill>
                <a:latin typeface="Segoe UI"/>
              </a:rPr>
              <a:t> — every CLP figure is a relative signal, not an audited financial. The direction is trustworthy; the level is not.</a:t>
            </a:r>
          </a:p>
        </p:txBody>
      </p:sp>
      <p:sp>
        <p:nvSpPr>
          <p:cNvPr id="7" name="Rectangle 6"/>
          <p:cNvSpPr/>
          <p:nvPr/>
        </p:nvSpPr>
        <p:spPr>
          <a:xfrm>
            <a:off x="868680" y="2930652"/>
            <a:ext cx="118872" cy="118872"/>
          </a:xfrm>
          <a:prstGeom prst="rect">
            <a:avLst/>
          </a:prstGeom>
          <a:solidFill>
            <a:srgbClr val="C00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9576" y="2852928"/>
            <a:ext cx="10143439" cy="365760"/>
          </a:xfrm>
          <a:prstGeom prst="rect">
            <a:avLst/>
          </a:prstGeom>
          <a:noFill/>
        </p:spPr>
        <p:txBody>
          <a:bodyPr wrap="square" anchor="t" lIns="0" rIns="0" tIns="0" bIns="0">
            <a:spAutoFit/>
          </a:bodyPr>
          <a:lstStyle/>
          <a:p>
            <a:pPr algn="l">
              <a:lnSpc>
                <a:spcPct val="130000"/>
              </a:lnSpc>
              <a:spcAft>
                <a:spcPts val="0"/>
              </a:spcAft>
            </a:pPr>
            <a:r>
              <a:rPr sz="1350" b="1" i="0">
                <a:solidFill>
                  <a:srgbClr val="5A5A5A"/>
                </a:solidFill>
                <a:latin typeface="Segoe UI"/>
              </a:rPr>
              <a:t>Privacy</a:t>
            </a:r>
            <a:r>
              <a:rPr sz="1350" b="0" i="0">
                <a:solidFill>
                  <a:srgbClr val="5A5A5A"/>
                </a:solidFill>
                <a:latin typeface="Segoe UI"/>
              </a:rPr>
              <a:t> — the customer hash is re-identifiable, so we treat it as personal data; street addresses were excluded from every model.</a:t>
            </a:r>
          </a:p>
        </p:txBody>
      </p:sp>
      <p:sp>
        <p:nvSpPr>
          <p:cNvPr id="9" name="Rectangle 8"/>
          <p:cNvSpPr/>
          <p:nvPr/>
        </p:nvSpPr>
        <p:spPr>
          <a:xfrm>
            <a:off x="868680" y="3479292"/>
            <a:ext cx="118872" cy="11887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9576" y="3401568"/>
            <a:ext cx="10143439" cy="365760"/>
          </a:xfrm>
          <a:prstGeom prst="rect">
            <a:avLst/>
          </a:prstGeom>
          <a:noFill/>
        </p:spPr>
        <p:txBody>
          <a:bodyPr wrap="square" anchor="t" lIns="0" rIns="0" tIns="0" bIns="0">
            <a:spAutoFit/>
          </a:bodyPr>
          <a:lstStyle/>
          <a:p>
            <a:pPr algn="l">
              <a:lnSpc>
                <a:spcPct val="130000"/>
              </a:lnSpc>
              <a:spcAft>
                <a:spcPts val="0"/>
              </a:spcAft>
            </a:pPr>
            <a:r>
              <a:rPr sz="1350" b="1" i="0">
                <a:solidFill>
                  <a:srgbClr val="5A5A5A"/>
                </a:solidFill>
                <a:latin typeface="Segoe UI"/>
              </a:rPr>
              <a:t>Geographic bias</a:t>
            </a:r>
            <a:r>
              <a:rPr sz="1350" b="0" i="0">
                <a:solidFill>
                  <a:srgbClr val="5A5A5A"/>
                </a:solidFill>
                <a:latin typeface="Segoe UI"/>
              </a:rPr>
              <a:t> — Santiago metro is over-represented, so “valuable customer” really means “urban customer”. A retention program must not redline rural comunas.</a:t>
            </a:r>
          </a:p>
        </p:txBody>
      </p:sp>
      <p:sp>
        <p:nvSpPr>
          <p:cNvPr id="11" name="Rectangle 10"/>
          <p:cNvSpPr/>
          <p:nvPr/>
        </p:nvSpPr>
        <p:spPr>
          <a:xfrm>
            <a:off x="868680" y="4027932"/>
            <a:ext cx="118872" cy="11887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9576" y="3950208"/>
            <a:ext cx="10143439" cy="365760"/>
          </a:xfrm>
          <a:prstGeom prst="rect">
            <a:avLst/>
          </a:prstGeom>
          <a:noFill/>
        </p:spPr>
        <p:txBody>
          <a:bodyPr wrap="square" anchor="t" lIns="0" rIns="0" tIns="0" bIns="0">
            <a:spAutoFit/>
          </a:bodyPr>
          <a:lstStyle/>
          <a:p>
            <a:pPr algn="l">
              <a:lnSpc>
                <a:spcPct val="130000"/>
              </a:lnSpc>
              <a:spcAft>
                <a:spcPts val="0"/>
              </a:spcAft>
            </a:pPr>
            <a:r>
              <a:rPr sz="1350" b="1" i="0">
                <a:solidFill>
                  <a:srgbClr val="5A5A5A"/>
                </a:solidFill>
                <a:latin typeface="Segoe UI"/>
              </a:rPr>
              <a:t>Moderate cluster quality</a:t>
            </a:r>
            <a:r>
              <a:rPr sz="1350" b="0" i="0">
                <a:solidFill>
                  <a:srgbClr val="5A5A5A"/>
                </a:solidFill>
                <a:latin typeface="Segoe UI"/>
              </a:rPr>
              <a:t> — silhouette 0.39. The segments are a marketing convenience, not a law of nature.</a:t>
            </a:r>
          </a:p>
        </p:txBody>
      </p:sp>
      <p:sp>
        <p:nvSpPr>
          <p:cNvPr id="13" name="Rectangle 12"/>
          <p:cNvSpPr/>
          <p:nvPr/>
        </p:nvSpPr>
        <p:spPr>
          <a:xfrm>
            <a:off x="868680" y="4576572"/>
            <a:ext cx="118872" cy="118872"/>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4498848"/>
            <a:ext cx="10143439" cy="365760"/>
          </a:xfrm>
          <a:prstGeom prst="rect">
            <a:avLst/>
          </a:prstGeom>
          <a:noFill/>
        </p:spPr>
        <p:txBody>
          <a:bodyPr wrap="square" anchor="t" lIns="0" rIns="0" tIns="0" bIns="0">
            <a:spAutoFit/>
          </a:bodyPr>
          <a:lstStyle/>
          <a:p>
            <a:pPr algn="l">
              <a:lnSpc>
                <a:spcPct val="130000"/>
              </a:lnSpc>
              <a:spcAft>
                <a:spcPts val="0"/>
              </a:spcAft>
            </a:pPr>
            <a:r>
              <a:rPr sz="1350" b="1" i="0">
                <a:solidFill>
                  <a:srgbClr val="5A5A5A"/>
                </a:solidFill>
                <a:latin typeface="Segoe UI"/>
              </a:rPr>
              <a:t>Human in the loop</a:t>
            </a:r>
            <a:r>
              <a:rPr sz="1350" b="0" i="0">
                <a:solidFill>
                  <a:srgbClr val="5A5A5A"/>
                </a:solidFill>
                <a:latin typeface="Segoe UI"/>
              </a:rPr>
              <a:t> — imbalanced target, no causal claims. The models advise; people decide.</a:t>
            </a:r>
          </a:p>
        </p:txBody>
      </p:sp>
      <p:sp>
        <p:nvSpPr>
          <p:cNvPr id="15" name="Rectangle 14"/>
          <p:cNvSpPr/>
          <p:nvPr/>
        </p:nvSpPr>
        <p:spPr>
          <a:xfrm>
            <a:off x="868680" y="6071616"/>
            <a:ext cx="10454335" cy="9525"/>
          </a:xfrm>
          <a:prstGeom prst="rect">
            <a:avLst/>
          </a:prstGeom>
          <a:solidFill>
            <a:srgbClr val="E8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8C0410"/>
                </a:solidFill>
                <a:latin typeface="Segoe UI"/>
              </a:rPr>
              <a:t>▶ Vicente</a:t>
            </a:r>
          </a:p>
        </p:txBody>
      </p:sp>
      <p:sp>
        <p:nvSpPr>
          <p:cNvPr id="17" name="TextBox 16"/>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767676"/>
                </a:solidFill>
                <a:latin typeface="Segoe UI"/>
              </a:rPr>
              <a:t>Ethics &amp; limitations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C00512"/>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566928"/>
            <a:ext cx="274320" cy="100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52728" y="457200"/>
            <a:ext cx="3657600" cy="320040"/>
          </a:xfrm>
          <a:prstGeom prst="rect">
            <a:avLst/>
          </a:prstGeom>
          <a:noFill/>
        </p:spPr>
        <p:txBody>
          <a:bodyPr wrap="square" anchor="t" lIns="0" rIns="0" tIns="0" bIns="0">
            <a:spAutoFit/>
          </a:bodyPr>
          <a:lstStyle/>
          <a:p>
            <a:pPr algn="l">
              <a:spcAft>
                <a:spcPts val="0"/>
              </a:spcAft>
            </a:pPr>
            <a:r>
              <a:rPr sz="1500" b="1" i="0">
                <a:solidFill>
                  <a:srgbClr val="FFFFFF"/>
                </a:solidFill>
                <a:latin typeface="Segoe UI"/>
              </a:rPr>
              <a:t>DERCO CHILE</a:t>
            </a:r>
          </a:p>
        </p:txBody>
      </p:sp>
      <p:sp>
        <p:nvSpPr>
          <p:cNvPr id="5" name="TextBox 4"/>
          <p:cNvSpPr txBox="1"/>
          <p:nvPr/>
        </p:nvSpPr>
        <p:spPr>
          <a:xfrm>
            <a:off x="868680" y="1078992"/>
            <a:ext cx="10454335" cy="274320"/>
          </a:xfrm>
          <a:prstGeom prst="rect">
            <a:avLst/>
          </a:prstGeom>
          <a:noFill/>
        </p:spPr>
        <p:txBody>
          <a:bodyPr wrap="square" anchor="t" lIns="0" rIns="0" tIns="0" bIns="0">
            <a:spAutoFit/>
          </a:bodyPr>
          <a:lstStyle/>
          <a:p>
            <a:pPr algn="l">
              <a:spcAft>
                <a:spcPts val="0"/>
              </a:spcAft>
            </a:pPr>
            <a:r>
              <a:rPr sz="1100" b="1" i="0">
                <a:solidFill>
                  <a:srgbClr val="FFFFFF"/>
                </a:solidFill>
                <a:latin typeface="Segoe UI"/>
              </a:rPr>
              <a:t>THANK YOU</a:t>
            </a:r>
          </a:p>
        </p:txBody>
      </p:sp>
      <p:sp>
        <p:nvSpPr>
          <p:cNvPr id="6" name="TextBox 5"/>
          <p:cNvSpPr txBox="1"/>
          <p:nvPr/>
        </p:nvSpPr>
        <p:spPr>
          <a:xfrm>
            <a:off x="868680" y="2103120"/>
            <a:ext cx="10454335" cy="1828800"/>
          </a:xfrm>
          <a:prstGeom prst="rect">
            <a:avLst/>
          </a:prstGeom>
          <a:noFill/>
        </p:spPr>
        <p:txBody>
          <a:bodyPr wrap="square" anchor="t" lIns="0" rIns="0" tIns="0" bIns="0">
            <a:spAutoFit/>
          </a:bodyPr>
          <a:lstStyle/>
          <a:p>
            <a:pPr algn="l">
              <a:lnSpc>
                <a:spcPct val="105000"/>
              </a:lnSpc>
              <a:spcAft>
                <a:spcPts val="0"/>
              </a:spcAft>
            </a:pPr>
            <a:r>
              <a:rPr sz="4600" b="1" i="0">
                <a:solidFill>
                  <a:srgbClr val="FFFFFF"/>
                </a:solidFill>
                <a:latin typeface="Segoe UI"/>
              </a:rPr>
              <a:t>One dataset.</a:t>
            </a:r>
          </a:p>
          <a:p>
            <a:pPr>
              <a:lnSpc>
                <a:spcPct val="105000"/>
              </a:lnSpc>
              <a:spcAft>
                <a:spcPts val="0"/>
              </a:spcAft>
            </a:pPr>
            <a:r>
              <a:rPr sz="4600" b="1" i="0">
                <a:solidFill>
                  <a:srgbClr val="FFFFFF"/>
                </a:solidFill>
                <a:latin typeface="Segoe UI"/>
              </a:rPr>
              <a:t>One decision.</a:t>
            </a:r>
          </a:p>
        </p:txBody>
      </p:sp>
      <p:sp>
        <p:nvSpPr>
          <p:cNvPr id="7" name="TextBox 6"/>
          <p:cNvSpPr txBox="1"/>
          <p:nvPr/>
        </p:nvSpPr>
        <p:spPr>
          <a:xfrm>
            <a:off x="868680" y="4206240"/>
            <a:ext cx="10454335" cy="1005840"/>
          </a:xfrm>
          <a:prstGeom prst="rect">
            <a:avLst/>
          </a:prstGeom>
          <a:noFill/>
        </p:spPr>
        <p:txBody>
          <a:bodyPr wrap="square" anchor="t" lIns="0" rIns="0" tIns="0" bIns="0">
            <a:spAutoFit/>
          </a:bodyPr>
          <a:lstStyle/>
          <a:p>
            <a:pPr algn="l">
              <a:spcAft>
                <a:spcPts val="900"/>
              </a:spcAft>
            </a:pPr>
            <a:r>
              <a:rPr sz="1500" b="0" i="0">
                <a:solidFill>
                  <a:srgbClr val="FFD9D9"/>
                </a:solidFill>
                <a:latin typeface="Segoe UI"/>
              </a:rPr>
              <a:t>Retain Champions · formalise China · plug the margin leak.</a:t>
            </a:r>
          </a:p>
          <a:p>
            <a:pPr>
              <a:spcAft>
                <a:spcPts val="0"/>
              </a:spcAft>
            </a:pPr>
            <a:r>
              <a:rPr sz="1400" b="0" i="0">
                <a:solidFill>
                  <a:srgbClr val="FFFFFF"/>
                </a:solidFill>
                <a:latin typeface="Segoe UI"/>
              </a:rPr>
              <a:t>Vicente Rodríguez · Agustín Reyes · Luis-Felipe Cáceres · Baptiste Vial · UDD 2026</a:t>
            </a:r>
          </a:p>
        </p:txBody>
      </p:sp>
      <p:sp>
        <p:nvSpPr>
          <p:cNvPr id="8" name="Rectangle 7"/>
          <p:cNvSpPr/>
          <p:nvPr/>
        </p:nvSpPr>
        <p:spPr>
          <a:xfrm>
            <a:off x="868680" y="6071616"/>
            <a:ext cx="10454335" cy="9525"/>
          </a:xfrm>
          <a:prstGeom prst="rect">
            <a:avLst/>
          </a:prstGeom>
          <a:solidFill>
            <a:srgbClr val="F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6199632"/>
            <a:ext cx="5227167" cy="274320"/>
          </a:xfrm>
          <a:prstGeom prst="rect">
            <a:avLst/>
          </a:prstGeom>
          <a:noFill/>
        </p:spPr>
        <p:txBody>
          <a:bodyPr wrap="square" anchor="t" lIns="0" rIns="0" tIns="0" bIns="0">
            <a:spAutoFit/>
          </a:bodyPr>
          <a:lstStyle/>
          <a:p>
            <a:pPr algn="l">
              <a:spcAft>
                <a:spcPts val="0"/>
              </a:spcAft>
            </a:pPr>
            <a:r>
              <a:rPr sz="1000" b="1" i="0">
                <a:solidFill>
                  <a:srgbClr val="FFFFFF"/>
                </a:solidFill>
                <a:latin typeface="Segoe UI"/>
              </a:rPr>
              <a:t>▶ Vicente</a:t>
            </a:r>
          </a:p>
        </p:txBody>
      </p:sp>
      <p:sp>
        <p:nvSpPr>
          <p:cNvPr id="10" name="TextBox 9"/>
          <p:cNvSpPr txBox="1"/>
          <p:nvPr/>
        </p:nvSpPr>
        <p:spPr>
          <a:xfrm>
            <a:off x="6095847" y="6199632"/>
            <a:ext cx="5227167" cy="274320"/>
          </a:xfrm>
          <a:prstGeom prst="rect">
            <a:avLst/>
          </a:prstGeom>
          <a:noFill/>
        </p:spPr>
        <p:txBody>
          <a:bodyPr wrap="square" anchor="t" lIns="0" rIns="0" tIns="0" bIns="0">
            <a:spAutoFit/>
          </a:bodyPr>
          <a:lstStyle/>
          <a:p>
            <a:pPr algn="r">
              <a:spcAft>
                <a:spcPts val="0"/>
              </a:spcAft>
            </a:pPr>
            <a:r>
              <a:rPr sz="1000" b="0" i="0">
                <a:solidFill>
                  <a:srgbClr val="FFFFFF"/>
                </a:solidFill>
                <a:latin typeface="Segoe UI"/>
              </a:rPr>
              <a:t>Ready for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